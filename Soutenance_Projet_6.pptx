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67" autoAdjust="0"/>
    <p:restoredTop sz="94726" autoAdjust="0"/>
  </p:normalViewPr>
  <p:slideViewPr>
    <p:cSldViewPr snapToGrid="0" snapToObjects="1">
      <p:cViewPr varScale="1">
        <p:scale>
          <a:sx n="127" d="100"/>
          <a:sy n="127" d="100"/>
        </p:scale>
        <p:origin x="184" y="64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94314F8-E8EC-4A39-B1E3-031639BBF42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B7CAE28-040A-47DB-BFE8-D67AA1FD13D4}">
      <dgm:prSet/>
      <dgm:spPr/>
      <dgm:t>
        <a:bodyPr/>
        <a:lstStyle/>
        <a:p>
          <a:r>
            <a:rPr lang="en-US" b="1"/>
            <a:t>Client</a:t>
          </a:r>
          <a:r>
            <a:rPr lang="en-US"/>
            <a:t> : “Place de marché” (Marketplace style Flipkart).</a:t>
          </a:r>
        </a:p>
      </dgm:t>
    </dgm:pt>
    <dgm:pt modelId="{C02930D4-3BE2-4787-9CEF-16DEC20A0D1F}" type="parTrans" cxnId="{B520A156-CB8E-4313-973E-A9A86A2F1DE2}">
      <dgm:prSet/>
      <dgm:spPr/>
      <dgm:t>
        <a:bodyPr/>
        <a:lstStyle/>
        <a:p>
          <a:endParaRPr lang="en-US"/>
        </a:p>
      </dgm:t>
    </dgm:pt>
    <dgm:pt modelId="{69A82B3B-2763-4316-B897-857B45D693B5}" type="sibTrans" cxnId="{B520A156-CB8E-4313-973E-A9A86A2F1DE2}">
      <dgm:prSet/>
      <dgm:spPr/>
      <dgm:t>
        <a:bodyPr/>
        <a:lstStyle/>
        <a:p>
          <a:endParaRPr lang="en-US"/>
        </a:p>
      </dgm:t>
    </dgm:pt>
    <dgm:pt modelId="{5ABBD4FE-356B-4992-AA91-2A6BD9167426}">
      <dgm:prSet/>
      <dgm:spPr/>
      <dgm:t>
        <a:bodyPr/>
        <a:lstStyle/>
        <a:p>
          <a:r>
            <a:rPr lang="en-US" b="1"/>
            <a:t>Problématique</a:t>
          </a:r>
          <a:r>
            <a:rPr lang="en-US"/>
            <a:t> : L’inventaire grandit, mais la classification reste manuelle.</a:t>
          </a:r>
        </a:p>
      </dgm:t>
    </dgm:pt>
    <dgm:pt modelId="{516A08C0-2C8F-4213-9DFC-1C68A4225F4A}" type="parTrans" cxnId="{7E1C4768-745E-43BB-B7C1-2A497425E2C4}">
      <dgm:prSet/>
      <dgm:spPr/>
      <dgm:t>
        <a:bodyPr/>
        <a:lstStyle/>
        <a:p>
          <a:endParaRPr lang="en-US"/>
        </a:p>
      </dgm:t>
    </dgm:pt>
    <dgm:pt modelId="{AC62050E-B784-47C9-8E7B-AA4F8FBC51DE}" type="sibTrans" cxnId="{7E1C4768-745E-43BB-B7C1-2A497425E2C4}">
      <dgm:prSet/>
      <dgm:spPr/>
      <dgm:t>
        <a:bodyPr/>
        <a:lstStyle/>
        <a:p>
          <a:endParaRPr lang="en-US"/>
        </a:p>
      </dgm:t>
    </dgm:pt>
    <dgm:pt modelId="{5F34D3E8-32F6-443C-B5E1-3CF6665E908D}">
      <dgm:prSet/>
      <dgm:spPr/>
      <dgm:t>
        <a:bodyPr/>
        <a:lstStyle/>
        <a:p>
          <a:r>
            <a:rPr lang="en-US" b="1"/>
            <a:t>Risques</a:t>
          </a:r>
          <a:r>
            <a:rPr lang="en-US"/>
            <a:t> : Mauvaise indexation, perte de ventes, vendeurs frustrés.</a:t>
          </a:r>
        </a:p>
      </dgm:t>
    </dgm:pt>
    <dgm:pt modelId="{3BE4502E-7B8E-451F-8F31-D7C1BC6062B4}" type="parTrans" cxnId="{594BC200-BE75-4F83-8EA3-782A17058411}">
      <dgm:prSet/>
      <dgm:spPr/>
      <dgm:t>
        <a:bodyPr/>
        <a:lstStyle/>
        <a:p>
          <a:endParaRPr lang="en-US"/>
        </a:p>
      </dgm:t>
    </dgm:pt>
    <dgm:pt modelId="{35F11653-93B3-45DB-B2CE-CB75C8806F08}" type="sibTrans" cxnId="{594BC200-BE75-4F83-8EA3-782A17058411}">
      <dgm:prSet/>
      <dgm:spPr/>
      <dgm:t>
        <a:bodyPr/>
        <a:lstStyle/>
        <a:p>
          <a:endParaRPr lang="en-US"/>
        </a:p>
      </dgm:t>
    </dgm:pt>
    <dgm:pt modelId="{3AF89620-909F-4669-8936-CC0F7C1C5FD2}">
      <dgm:prSet/>
      <dgm:spPr/>
      <dgm:t>
        <a:bodyPr/>
        <a:lstStyle/>
        <a:p>
          <a:r>
            <a:rPr lang="en-US" b="1"/>
            <a:t>Objectif technique</a:t>
          </a:r>
          <a:r>
            <a:rPr lang="en-US"/>
            <a:t> : Développer un “Proof of Concept” (POC) pour automatiser la catégorisation par moteur de recommandation ou classification directe.</a:t>
          </a:r>
        </a:p>
      </dgm:t>
    </dgm:pt>
    <dgm:pt modelId="{6296B280-BEB3-410D-8354-012D84C5BC5B}" type="parTrans" cxnId="{4A2E1A48-2705-4E6C-8439-6F5F92836546}">
      <dgm:prSet/>
      <dgm:spPr/>
      <dgm:t>
        <a:bodyPr/>
        <a:lstStyle/>
        <a:p>
          <a:endParaRPr lang="en-US"/>
        </a:p>
      </dgm:t>
    </dgm:pt>
    <dgm:pt modelId="{3568BA00-DFE6-42D2-A91F-718018060BB8}" type="sibTrans" cxnId="{4A2E1A48-2705-4E6C-8439-6F5F92836546}">
      <dgm:prSet/>
      <dgm:spPr/>
      <dgm:t>
        <a:bodyPr/>
        <a:lstStyle/>
        <a:p>
          <a:endParaRPr lang="en-US"/>
        </a:p>
      </dgm:t>
    </dgm:pt>
    <dgm:pt modelId="{C9DE5599-8BBD-4693-A18B-C0CD01F4FD54}" type="pres">
      <dgm:prSet presAssocID="{094314F8-E8EC-4A39-B1E3-031639BBF42B}" presName="root" presStyleCnt="0">
        <dgm:presLayoutVars>
          <dgm:dir/>
          <dgm:resizeHandles val="exact"/>
        </dgm:presLayoutVars>
      </dgm:prSet>
      <dgm:spPr/>
    </dgm:pt>
    <dgm:pt modelId="{21D5256E-75AE-4BDF-B90D-32BCA1E6903E}" type="pres">
      <dgm:prSet presAssocID="{4B7CAE28-040A-47DB-BFE8-D67AA1FD13D4}" presName="compNode" presStyleCnt="0"/>
      <dgm:spPr/>
    </dgm:pt>
    <dgm:pt modelId="{F1FAB81F-7C76-4509-9283-77A023FFB8AC}" type="pres">
      <dgm:prSet presAssocID="{4B7CAE28-040A-47DB-BFE8-D67AA1FD13D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apanese Dolls"/>
        </a:ext>
      </dgm:extLst>
    </dgm:pt>
    <dgm:pt modelId="{BE1CC33A-EAD4-4E6F-AE24-86D89AA9076C}" type="pres">
      <dgm:prSet presAssocID="{4B7CAE28-040A-47DB-BFE8-D67AA1FD13D4}" presName="spaceRect" presStyleCnt="0"/>
      <dgm:spPr/>
    </dgm:pt>
    <dgm:pt modelId="{CDEE5D34-D152-4826-8898-8A0B82AAA914}" type="pres">
      <dgm:prSet presAssocID="{4B7CAE28-040A-47DB-BFE8-D67AA1FD13D4}" presName="textRect" presStyleLbl="revTx" presStyleIdx="0" presStyleCnt="4">
        <dgm:presLayoutVars>
          <dgm:chMax val="1"/>
          <dgm:chPref val="1"/>
        </dgm:presLayoutVars>
      </dgm:prSet>
      <dgm:spPr/>
    </dgm:pt>
    <dgm:pt modelId="{583DB944-3B3B-4059-8149-D6D2B061CB5F}" type="pres">
      <dgm:prSet presAssocID="{69A82B3B-2763-4316-B897-857B45D693B5}" presName="sibTrans" presStyleCnt="0"/>
      <dgm:spPr/>
    </dgm:pt>
    <dgm:pt modelId="{FA1C9392-9207-4E93-A731-0731632B2590}" type="pres">
      <dgm:prSet presAssocID="{5ABBD4FE-356B-4992-AA91-2A6BD9167426}" presName="compNode" presStyleCnt="0"/>
      <dgm:spPr/>
    </dgm:pt>
    <dgm:pt modelId="{A2D9F8A3-5DBA-4810-A75A-9462745ECE2C}" type="pres">
      <dgm:prSet presAssocID="{5ABBD4FE-356B-4992-AA91-2A6BD916742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1E5A76B4-D0D6-444D-9B19-215D45A411FC}" type="pres">
      <dgm:prSet presAssocID="{5ABBD4FE-356B-4992-AA91-2A6BD9167426}" presName="spaceRect" presStyleCnt="0"/>
      <dgm:spPr/>
    </dgm:pt>
    <dgm:pt modelId="{B009F7CB-A393-4C59-BA69-FCA4B336CFD0}" type="pres">
      <dgm:prSet presAssocID="{5ABBD4FE-356B-4992-AA91-2A6BD9167426}" presName="textRect" presStyleLbl="revTx" presStyleIdx="1" presStyleCnt="4">
        <dgm:presLayoutVars>
          <dgm:chMax val="1"/>
          <dgm:chPref val="1"/>
        </dgm:presLayoutVars>
      </dgm:prSet>
      <dgm:spPr/>
    </dgm:pt>
    <dgm:pt modelId="{A3267E6A-2D64-435C-BC0B-4863F6B6399D}" type="pres">
      <dgm:prSet presAssocID="{AC62050E-B784-47C9-8E7B-AA4F8FBC51DE}" presName="sibTrans" presStyleCnt="0"/>
      <dgm:spPr/>
    </dgm:pt>
    <dgm:pt modelId="{FFE1EA0C-06CF-4F3C-8AB3-1C3B3DC8D4F1}" type="pres">
      <dgm:prSet presAssocID="{5F34D3E8-32F6-443C-B5E1-3CF6665E908D}" presName="compNode" presStyleCnt="0"/>
      <dgm:spPr/>
    </dgm:pt>
    <dgm:pt modelId="{EAE5E9AC-7826-4999-AFD3-2630A7FE1A9E}" type="pres">
      <dgm:prSet presAssocID="{5F34D3E8-32F6-443C-B5E1-3CF6665E908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ine"/>
        </a:ext>
      </dgm:extLst>
    </dgm:pt>
    <dgm:pt modelId="{D49FC039-B98D-42AA-B9D3-1390233DEAAF}" type="pres">
      <dgm:prSet presAssocID="{5F34D3E8-32F6-443C-B5E1-3CF6665E908D}" presName="spaceRect" presStyleCnt="0"/>
      <dgm:spPr/>
    </dgm:pt>
    <dgm:pt modelId="{31A62FCC-9525-4424-9E5F-DF4803CBC68D}" type="pres">
      <dgm:prSet presAssocID="{5F34D3E8-32F6-443C-B5E1-3CF6665E908D}" presName="textRect" presStyleLbl="revTx" presStyleIdx="2" presStyleCnt="4">
        <dgm:presLayoutVars>
          <dgm:chMax val="1"/>
          <dgm:chPref val="1"/>
        </dgm:presLayoutVars>
      </dgm:prSet>
      <dgm:spPr/>
    </dgm:pt>
    <dgm:pt modelId="{8B6217CC-38EE-4D32-87DF-BA52DA34599A}" type="pres">
      <dgm:prSet presAssocID="{35F11653-93B3-45DB-B2CE-CB75C8806F08}" presName="sibTrans" presStyleCnt="0"/>
      <dgm:spPr/>
    </dgm:pt>
    <dgm:pt modelId="{AA5587F0-0D2F-49A6-86BD-1F93ECD4C3E4}" type="pres">
      <dgm:prSet presAssocID="{3AF89620-909F-4669-8936-CC0F7C1C5FD2}" presName="compNode" presStyleCnt="0"/>
      <dgm:spPr/>
    </dgm:pt>
    <dgm:pt modelId="{C5AC21DA-857E-4BAB-9DEE-05DB5B4F1AD9}" type="pres">
      <dgm:prSet presAssocID="{3AF89620-909F-4669-8936-CC0F7C1C5FD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lle"/>
        </a:ext>
      </dgm:extLst>
    </dgm:pt>
    <dgm:pt modelId="{6A94A155-145E-4ECA-B98A-5293FA8D1CBD}" type="pres">
      <dgm:prSet presAssocID="{3AF89620-909F-4669-8936-CC0F7C1C5FD2}" presName="spaceRect" presStyleCnt="0"/>
      <dgm:spPr/>
    </dgm:pt>
    <dgm:pt modelId="{6FBE9454-9A41-4F62-A937-44813DF5B389}" type="pres">
      <dgm:prSet presAssocID="{3AF89620-909F-4669-8936-CC0F7C1C5FD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94BC200-BE75-4F83-8EA3-782A17058411}" srcId="{094314F8-E8EC-4A39-B1E3-031639BBF42B}" destId="{5F34D3E8-32F6-443C-B5E1-3CF6665E908D}" srcOrd="2" destOrd="0" parTransId="{3BE4502E-7B8E-451F-8F31-D7C1BC6062B4}" sibTransId="{35F11653-93B3-45DB-B2CE-CB75C8806F08}"/>
    <dgm:cxn modelId="{4A2E1A48-2705-4E6C-8439-6F5F92836546}" srcId="{094314F8-E8EC-4A39-B1E3-031639BBF42B}" destId="{3AF89620-909F-4669-8936-CC0F7C1C5FD2}" srcOrd="3" destOrd="0" parTransId="{6296B280-BEB3-410D-8354-012D84C5BC5B}" sibTransId="{3568BA00-DFE6-42D2-A91F-718018060BB8}"/>
    <dgm:cxn modelId="{B520A156-CB8E-4313-973E-A9A86A2F1DE2}" srcId="{094314F8-E8EC-4A39-B1E3-031639BBF42B}" destId="{4B7CAE28-040A-47DB-BFE8-D67AA1FD13D4}" srcOrd="0" destOrd="0" parTransId="{C02930D4-3BE2-4787-9CEF-16DEC20A0D1F}" sibTransId="{69A82B3B-2763-4316-B897-857B45D693B5}"/>
    <dgm:cxn modelId="{3FE84E58-BAD2-492F-83C9-298E6372065E}" type="presOf" srcId="{094314F8-E8EC-4A39-B1E3-031639BBF42B}" destId="{C9DE5599-8BBD-4693-A18B-C0CD01F4FD54}" srcOrd="0" destOrd="0" presId="urn:microsoft.com/office/officeart/2018/2/layout/IconLabelList"/>
    <dgm:cxn modelId="{7E1C4768-745E-43BB-B7C1-2A497425E2C4}" srcId="{094314F8-E8EC-4A39-B1E3-031639BBF42B}" destId="{5ABBD4FE-356B-4992-AA91-2A6BD9167426}" srcOrd="1" destOrd="0" parTransId="{516A08C0-2C8F-4213-9DFC-1C68A4225F4A}" sibTransId="{AC62050E-B784-47C9-8E7B-AA4F8FBC51DE}"/>
    <dgm:cxn modelId="{95E6A870-7684-42B0-A9E8-6AAA1A759539}" type="presOf" srcId="{3AF89620-909F-4669-8936-CC0F7C1C5FD2}" destId="{6FBE9454-9A41-4F62-A937-44813DF5B389}" srcOrd="0" destOrd="0" presId="urn:microsoft.com/office/officeart/2018/2/layout/IconLabelList"/>
    <dgm:cxn modelId="{C75415CC-2744-4BE7-BDC1-C2CCF8A8E7EB}" type="presOf" srcId="{5ABBD4FE-356B-4992-AA91-2A6BD9167426}" destId="{B009F7CB-A393-4C59-BA69-FCA4B336CFD0}" srcOrd="0" destOrd="0" presId="urn:microsoft.com/office/officeart/2018/2/layout/IconLabelList"/>
    <dgm:cxn modelId="{FB9624E7-61CC-4C22-BB10-D75F905C72D9}" type="presOf" srcId="{4B7CAE28-040A-47DB-BFE8-D67AA1FD13D4}" destId="{CDEE5D34-D152-4826-8898-8A0B82AAA914}" srcOrd="0" destOrd="0" presId="urn:microsoft.com/office/officeart/2018/2/layout/IconLabelList"/>
    <dgm:cxn modelId="{5F5E8FFB-F13C-48C0-9A49-51509A929CB0}" type="presOf" srcId="{5F34D3E8-32F6-443C-B5E1-3CF6665E908D}" destId="{31A62FCC-9525-4424-9E5F-DF4803CBC68D}" srcOrd="0" destOrd="0" presId="urn:microsoft.com/office/officeart/2018/2/layout/IconLabelList"/>
    <dgm:cxn modelId="{9E03BA4E-F49A-4D05-A325-10C1649766AB}" type="presParOf" srcId="{C9DE5599-8BBD-4693-A18B-C0CD01F4FD54}" destId="{21D5256E-75AE-4BDF-B90D-32BCA1E6903E}" srcOrd="0" destOrd="0" presId="urn:microsoft.com/office/officeart/2018/2/layout/IconLabelList"/>
    <dgm:cxn modelId="{68FD031E-EF23-4585-8B9D-2C3C75F96043}" type="presParOf" srcId="{21D5256E-75AE-4BDF-B90D-32BCA1E6903E}" destId="{F1FAB81F-7C76-4509-9283-77A023FFB8AC}" srcOrd="0" destOrd="0" presId="urn:microsoft.com/office/officeart/2018/2/layout/IconLabelList"/>
    <dgm:cxn modelId="{D86B2E93-9A44-4BC5-B0C6-170DC5182BEE}" type="presParOf" srcId="{21D5256E-75AE-4BDF-B90D-32BCA1E6903E}" destId="{BE1CC33A-EAD4-4E6F-AE24-86D89AA9076C}" srcOrd="1" destOrd="0" presId="urn:microsoft.com/office/officeart/2018/2/layout/IconLabelList"/>
    <dgm:cxn modelId="{DC10634E-3D57-40C6-94F6-EF6FE5A11A40}" type="presParOf" srcId="{21D5256E-75AE-4BDF-B90D-32BCA1E6903E}" destId="{CDEE5D34-D152-4826-8898-8A0B82AAA914}" srcOrd="2" destOrd="0" presId="urn:microsoft.com/office/officeart/2018/2/layout/IconLabelList"/>
    <dgm:cxn modelId="{C38DFFF4-79C9-467B-BC39-E8EBDB157B15}" type="presParOf" srcId="{C9DE5599-8BBD-4693-A18B-C0CD01F4FD54}" destId="{583DB944-3B3B-4059-8149-D6D2B061CB5F}" srcOrd="1" destOrd="0" presId="urn:microsoft.com/office/officeart/2018/2/layout/IconLabelList"/>
    <dgm:cxn modelId="{FE907EED-CE97-4DE3-8731-C20D19C86B15}" type="presParOf" srcId="{C9DE5599-8BBD-4693-A18B-C0CD01F4FD54}" destId="{FA1C9392-9207-4E93-A731-0731632B2590}" srcOrd="2" destOrd="0" presId="urn:microsoft.com/office/officeart/2018/2/layout/IconLabelList"/>
    <dgm:cxn modelId="{F8A3B218-D1CE-47A2-ADE3-442FEF5793B3}" type="presParOf" srcId="{FA1C9392-9207-4E93-A731-0731632B2590}" destId="{A2D9F8A3-5DBA-4810-A75A-9462745ECE2C}" srcOrd="0" destOrd="0" presId="urn:microsoft.com/office/officeart/2018/2/layout/IconLabelList"/>
    <dgm:cxn modelId="{F93711E0-7952-4ABA-A5A1-F9A70A1B5A79}" type="presParOf" srcId="{FA1C9392-9207-4E93-A731-0731632B2590}" destId="{1E5A76B4-D0D6-444D-9B19-215D45A411FC}" srcOrd="1" destOrd="0" presId="urn:microsoft.com/office/officeart/2018/2/layout/IconLabelList"/>
    <dgm:cxn modelId="{6BB592F2-67CC-4B72-AE83-E9C76437F061}" type="presParOf" srcId="{FA1C9392-9207-4E93-A731-0731632B2590}" destId="{B009F7CB-A393-4C59-BA69-FCA4B336CFD0}" srcOrd="2" destOrd="0" presId="urn:microsoft.com/office/officeart/2018/2/layout/IconLabelList"/>
    <dgm:cxn modelId="{5A87541D-5F33-4B10-AC5F-255AB9EBE9FE}" type="presParOf" srcId="{C9DE5599-8BBD-4693-A18B-C0CD01F4FD54}" destId="{A3267E6A-2D64-435C-BC0B-4863F6B6399D}" srcOrd="3" destOrd="0" presId="urn:microsoft.com/office/officeart/2018/2/layout/IconLabelList"/>
    <dgm:cxn modelId="{D70887A8-3B1E-4471-BEB5-CB848297B7B1}" type="presParOf" srcId="{C9DE5599-8BBD-4693-A18B-C0CD01F4FD54}" destId="{FFE1EA0C-06CF-4F3C-8AB3-1C3B3DC8D4F1}" srcOrd="4" destOrd="0" presId="urn:microsoft.com/office/officeart/2018/2/layout/IconLabelList"/>
    <dgm:cxn modelId="{0D75C34E-6FE1-45E5-88FC-99C3E1E460AC}" type="presParOf" srcId="{FFE1EA0C-06CF-4F3C-8AB3-1C3B3DC8D4F1}" destId="{EAE5E9AC-7826-4999-AFD3-2630A7FE1A9E}" srcOrd="0" destOrd="0" presId="urn:microsoft.com/office/officeart/2018/2/layout/IconLabelList"/>
    <dgm:cxn modelId="{85D6A1B7-8FAD-417C-AD3C-9ABD4C629E02}" type="presParOf" srcId="{FFE1EA0C-06CF-4F3C-8AB3-1C3B3DC8D4F1}" destId="{D49FC039-B98D-42AA-B9D3-1390233DEAAF}" srcOrd="1" destOrd="0" presId="urn:microsoft.com/office/officeart/2018/2/layout/IconLabelList"/>
    <dgm:cxn modelId="{93BD1326-6DB2-4CA1-BA9A-BA0F019DD651}" type="presParOf" srcId="{FFE1EA0C-06CF-4F3C-8AB3-1C3B3DC8D4F1}" destId="{31A62FCC-9525-4424-9E5F-DF4803CBC68D}" srcOrd="2" destOrd="0" presId="urn:microsoft.com/office/officeart/2018/2/layout/IconLabelList"/>
    <dgm:cxn modelId="{DA2AFE26-B559-4BD2-861E-652E90B13D79}" type="presParOf" srcId="{C9DE5599-8BBD-4693-A18B-C0CD01F4FD54}" destId="{8B6217CC-38EE-4D32-87DF-BA52DA34599A}" srcOrd="5" destOrd="0" presId="urn:microsoft.com/office/officeart/2018/2/layout/IconLabelList"/>
    <dgm:cxn modelId="{F111E82A-362A-40D9-8606-BB1FB2CEDD66}" type="presParOf" srcId="{C9DE5599-8BBD-4693-A18B-C0CD01F4FD54}" destId="{AA5587F0-0D2F-49A6-86BD-1F93ECD4C3E4}" srcOrd="6" destOrd="0" presId="urn:microsoft.com/office/officeart/2018/2/layout/IconLabelList"/>
    <dgm:cxn modelId="{6EE0D5E3-7591-45DE-8450-DE7F586C0DA5}" type="presParOf" srcId="{AA5587F0-0D2F-49A6-86BD-1F93ECD4C3E4}" destId="{C5AC21DA-857E-4BAB-9DEE-05DB5B4F1AD9}" srcOrd="0" destOrd="0" presId="urn:microsoft.com/office/officeart/2018/2/layout/IconLabelList"/>
    <dgm:cxn modelId="{02B1374B-4DDE-44A2-9DA2-3F09645A5FAF}" type="presParOf" srcId="{AA5587F0-0D2F-49A6-86BD-1F93ECD4C3E4}" destId="{6A94A155-145E-4ECA-B98A-5293FA8D1CBD}" srcOrd="1" destOrd="0" presId="urn:microsoft.com/office/officeart/2018/2/layout/IconLabelList"/>
    <dgm:cxn modelId="{4D41A71D-9E98-43E6-A709-3858EDBA96EC}" type="presParOf" srcId="{AA5587F0-0D2F-49A6-86BD-1F93ECD4C3E4}" destId="{6FBE9454-9A41-4F62-A937-44813DF5B38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351CB72-71D6-4058-BDF7-CF70AD656A21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9ECECCF-7034-4E17-A18F-39FAAC5BE18A}">
      <dgm:prSet/>
      <dgm:spPr/>
      <dgm:t>
        <a:bodyPr/>
        <a:lstStyle/>
        <a:p>
          <a:r>
            <a:rPr lang="en-US" b="1"/>
            <a:t>1050 articles</a:t>
          </a:r>
          <a:r>
            <a:rPr lang="en-US"/>
            <a:t> avec descriptions textuelles et images.</a:t>
          </a:r>
        </a:p>
      </dgm:t>
    </dgm:pt>
    <dgm:pt modelId="{F67796E6-DD3D-417B-9004-AE5F82A57F44}" type="parTrans" cxnId="{AFF34E62-FBA9-4BB0-B5D4-8B32300323FF}">
      <dgm:prSet/>
      <dgm:spPr/>
      <dgm:t>
        <a:bodyPr/>
        <a:lstStyle/>
        <a:p>
          <a:endParaRPr lang="en-US"/>
        </a:p>
      </dgm:t>
    </dgm:pt>
    <dgm:pt modelId="{E5A61883-22B1-40C3-B954-C924BD6540DC}" type="sibTrans" cxnId="{AFF34E62-FBA9-4BB0-B5D4-8B32300323FF}">
      <dgm:prSet/>
      <dgm:spPr/>
      <dgm:t>
        <a:bodyPr/>
        <a:lstStyle/>
        <a:p>
          <a:endParaRPr lang="en-US"/>
        </a:p>
      </dgm:t>
    </dgm:pt>
    <dgm:pt modelId="{E144BDAC-46A0-4B38-A71D-ED956BA909AF}">
      <dgm:prSet/>
      <dgm:spPr/>
      <dgm:t>
        <a:bodyPr/>
        <a:lstStyle/>
        <a:p>
          <a:r>
            <a:rPr lang="en-US" b="1"/>
            <a:t>7 catégories cibles</a:t>
          </a:r>
          <a:r>
            <a:rPr lang="en-US"/>
            <a:t> (150 échantillons par classe) : Équilibre parfait pour éviter les biais de classe majoritaire.</a:t>
          </a:r>
        </a:p>
      </dgm:t>
    </dgm:pt>
    <dgm:pt modelId="{811941C9-5E28-4D8E-9BA1-9E2BC6E599E1}" type="parTrans" cxnId="{06C41734-D3FC-4F58-9609-82A28BD12C83}">
      <dgm:prSet/>
      <dgm:spPr/>
      <dgm:t>
        <a:bodyPr/>
        <a:lstStyle/>
        <a:p>
          <a:endParaRPr lang="en-US"/>
        </a:p>
      </dgm:t>
    </dgm:pt>
    <dgm:pt modelId="{DEFA570F-1D95-4E75-A1E5-034DEF2D17DB}" type="sibTrans" cxnId="{06C41734-D3FC-4F58-9609-82A28BD12C83}">
      <dgm:prSet/>
      <dgm:spPr/>
      <dgm:t>
        <a:bodyPr/>
        <a:lstStyle/>
        <a:p>
          <a:endParaRPr lang="en-US"/>
        </a:p>
      </dgm:t>
    </dgm:pt>
    <dgm:pt modelId="{F63BA1A4-4103-4B73-AE26-55BC374C8BAC}">
      <dgm:prSet/>
      <dgm:spPr/>
      <dgm:t>
        <a:bodyPr/>
        <a:lstStyle/>
        <a:p>
          <a:r>
            <a:rPr lang="en-US" b="1"/>
            <a:t>Attributs exploités</a:t>
          </a:r>
          <a:r>
            <a:rPr lang="en-US"/>
            <a:t> : product_name, description, et l’image associée.</a:t>
          </a:r>
        </a:p>
      </dgm:t>
    </dgm:pt>
    <dgm:pt modelId="{8DA5483C-FD8A-4B4A-967B-1184E42EC958}" type="parTrans" cxnId="{B1B1E2F0-1BFC-4FBF-B751-5143C182DDB8}">
      <dgm:prSet/>
      <dgm:spPr/>
      <dgm:t>
        <a:bodyPr/>
        <a:lstStyle/>
        <a:p>
          <a:endParaRPr lang="en-US"/>
        </a:p>
      </dgm:t>
    </dgm:pt>
    <dgm:pt modelId="{14B1105A-B7C9-4CCA-880A-D6CC78CA94F3}" type="sibTrans" cxnId="{B1B1E2F0-1BFC-4FBF-B751-5143C182DDB8}">
      <dgm:prSet/>
      <dgm:spPr/>
      <dgm:t>
        <a:bodyPr/>
        <a:lstStyle/>
        <a:p>
          <a:endParaRPr lang="en-US"/>
        </a:p>
      </dgm:t>
    </dgm:pt>
    <dgm:pt modelId="{91A6A977-C753-1E4D-8652-418E48CC9BEF}" type="pres">
      <dgm:prSet presAssocID="{1351CB72-71D6-4058-BDF7-CF70AD656A21}" presName="outerComposite" presStyleCnt="0">
        <dgm:presLayoutVars>
          <dgm:chMax val="5"/>
          <dgm:dir/>
          <dgm:resizeHandles val="exact"/>
        </dgm:presLayoutVars>
      </dgm:prSet>
      <dgm:spPr/>
    </dgm:pt>
    <dgm:pt modelId="{0B4F2453-3EBD-FC4D-B85D-893CE736E984}" type="pres">
      <dgm:prSet presAssocID="{1351CB72-71D6-4058-BDF7-CF70AD656A21}" presName="dummyMaxCanvas" presStyleCnt="0">
        <dgm:presLayoutVars/>
      </dgm:prSet>
      <dgm:spPr/>
    </dgm:pt>
    <dgm:pt modelId="{AD4826D1-4C42-124B-B089-E8099155E3D3}" type="pres">
      <dgm:prSet presAssocID="{1351CB72-71D6-4058-BDF7-CF70AD656A21}" presName="ThreeNodes_1" presStyleLbl="node1" presStyleIdx="0" presStyleCnt="3">
        <dgm:presLayoutVars>
          <dgm:bulletEnabled val="1"/>
        </dgm:presLayoutVars>
      </dgm:prSet>
      <dgm:spPr/>
    </dgm:pt>
    <dgm:pt modelId="{0438D4CA-C8AF-344F-964F-BF54CC3BE58C}" type="pres">
      <dgm:prSet presAssocID="{1351CB72-71D6-4058-BDF7-CF70AD656A21}" presName="ThreeNodes_2" presStyleLbl="node1" presStyleIdx="1" presStyleCnt="3">
        <dgm:presLayoutVars>
          <dgm:bulletEnabled val="1"/>
        </dgm:presLayoutVars>
      </dgm:prSet>
      <dgm:spPr/>
    </dgm:pt>
    <dgm:pt modelId="{B38B8946-EA36-DE43-AFBC-27F1E3CC7416}" type="pres">
      <dgm:prSet presAssocID="{1351CB72-71D6-4058-BDF7-CF70AD656A21}" presName="ThreeNodes_3" presStyleLbl="node1" presStyleIdx="2" presStyleCnt="3">
        <dgm:presLayoutVars>
          <dgm:bulletEnabled val="1"/>
        </dgm:presLayoutVars>
      </dgm:prSet>
      <dgm:spPr/>
    </dgm:pt>
    <dgm:pt modelId="{BDF805C3-DFFA-2545-91E8-4CA10543D9CB}" type="pres">
      <dgm:prSet presAssocID="{1351CB72-71D6-4058-BDF7-CF70AD656A21}" presName="ThreeConn_1-2" presStyleLbl="fgAccFollowNode1" presStyleIdx="0" presStyleCnt="2">
        <dgm:presLayoutVars>
          <dgm:bulletEnabled val="1"/>
        </dgm:presLayoutVars>
      </dgm:prSet>
      <dgm:spPr/>
    </dgm:pt>
    <dgm:pt modelId="{403AA1F4-E2E7-C742-AF9E-B84F69055BCE}" type="pres">
      <dgm:prSet presAssocID="{1351CB72-71D6-4058-BDF7-CF70AD656A21}" presName="ThreeConn_2-3" presStyleLbl="fgAccFollowNode1" presStyleIdx="1" presStyleCnt="2">
        <dgm:presLayoutVars>
          <dgm:bulletEnabled val="1"/>
        </dgm:presLayoutVars>
      </dgm:prSet>
      <dgm:spPr/>
    </dgm:pt>
    <dgm:pt modelId="{76CC8486-7948-8A41-B706-0897727E1678}" type="pres">
      <dgm:prSet presAssocID="{1351CB72-71D6-4058-BDF7-CF70AD656A21}" presName="ThreeNodes_1_text" presStyleLbl="node1" presStyleIdx="2" presStyleCnt="3">
        <dgm:presLayoutVars>
          <dgm:bulletEnabled val="1"/>
        </dgm:presLayoutVars>
      </dgm:prSet>
      <dgm:spPr/>
    </dgm:pt>
    <dgm:pt modelId="{3B50C699-CFE5-4944-9638-1C24234B1834}" type="pres">
      <dgm:prSet presAssocID="{1351CB72-71D6-4058-BDF7-CF70AD656A21}" presName="ThreeNodes_2_text" presStyleLbl="node1" presStyleIdx="2" presStyleCnt="3">
        <dgm:presLayoutVars>
          <dgm:bulletEnabled val="1"/>
        </dgm:presLayoutVars>
      </dgm:prSet>
      <dgm:spPr/>
    </dgm:pt>
    <dgm:pt modelId="{C71FD3E6-B1BB-4C4D-A7D7-3CC0808CE9AB}" type="pres">
      <dgm:prSet presAssocID="{1351CB72-71D6-4058-BDF7-CF70AD656A21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AC96D21A-7D91-3642-8275-F68458251F35}" type="presOf" srcId="{F63BA1A4-4103-4B73-AE26-55BC374C8BAC}" destId="{C71FD3E6-B1BB-4C4D-A7D7-3CC0808CE9AB}" srcOrd="1" destOrd="0" presId="urn:microsoft.com/office/officeart/2005/8/layout/vProcess5"/>
    <dgm:cxn modelId="{375A8B33-233C-134B-9822-647DEF8E2F71}" type="presOf" srcId="{E144BDAC-46A0-4B38-A71D-ED956BA909AF}" destId="{0438D4CA-C8AF-344F-964F-BF54CC3BE58C}" srcOrd="0" destOrd="0" presId="urn:microsoft.com/office/officeart/2005/8/layout/vProcess5"/>
    <dgm:cxn modelId="{06C41734-D3FC-4F58-9609-82A28BD12C83}" srcId="{1351CB72-71D6-4058-BDF7-CF70AD656A21}" destId="{E144BDAC-46A0-4B38-A71D-ED956BA909AF}" srcOrd="1" destOrd="0" parTransId="{811941C9-5E28-4D8E-9BA1-9E2BC6E599E1}" sibTransId="{DEFA570F-1D95-4E75-A1E5-034DEF2D17DB}"/>
    <dgm:cxn modelId="{0F0A7E36-987E-604E-AD01-8D319B3C1C34}" type="presOf" srcId="{E9ECECCF-7034-4E17-A18F-39FAAC5BE18A}" destId="{76CC8486-7948-8A41-B706-0897727E1678}" srcOrd="1" destOrd="0" presId="urn:microsoft.com/office/officeart/2005/8/layout/vProcess5"/>
    <dgm:cxn modelId="{03279049-8E73-4A42-9400-466B838ADD74}" type="presOf" srcId="{1351CB72-71D6-4058-BDF7-CF70AD656A21}" destId="{91A6A977-C753-1E4D-8652-418E48CC9BEF}" srcOrd="0" destOrd="0" presId="urn:microsoft.com/office/officeart/2005/8/layout/vProcess5"/>
    <dgm:cxn modelId="{AFF34E62-FBA9-4BB0-B5D4-8B32300323FF}" srcId="{1351CB72-71D6-4058-BDF7-CF70AD656A21}" destId="{E9ECECCF-7034-4E17-A18F-39FAAC5BE18A}" srcOrd="0" destOrd="0" parTransId="{F67796E6-DD3D-417B-9004-AE5F82A57F44}" sibTransId="{E5A61883-22B1-40C3-B954-C924BD6540DC}"/>
    <dgm:cxn modelId="{2FCFA876-4E13-4848-B479-9326430DE81D}" type="presOf" srcId="{E144BDAC-46A0-4B38-A71D-ED956BA909AF}" destId="{3B50C699-CFE5-4944-9638-1C24234B1834}" srcOrd="1" destOrd="0" presId="urn:microsoft.com/office/officeart/2005/8/layout/vProcess5"/>
    <dgm:cxn modelId="{BC1A798E-2E36-4846-B918-99BF00334A40}" type="presOf" srcId="{E9ECECCF-7034-4E17-A18F-39FAAC5BE18A}" destId="{AD4826D1-4C42-124B-B089-E8099155E3D3}" srcOrd="0" destOrd="0" presId="urn:microsoft.com/office/officeart/2005/8/layout/vProcess5"/>
    <dgm:cxn modelId="{FADC019B-CECA-C946-B9C5-967768D81C1F}" type="presOf" srcId="{DEFA570F-1D95-4E75-A1E5-034DEF2D17DB}" destId="{403AA1F4-E2E7-C742-AF9E-B84F69055BCE}" srcOrd="0" destOrd="0" presId="urn:microsoft.com/office/officeart/2005/8/layout/vProcess5"/>
    <dgm:cxn modelId="{E61285C0-C7D6-4547-A126-415947BB39BD}" type="presOf" srcId="{F63BA1A4-4103-4B73-AE26-55BC374C8BAC}" destId="{B38B8946-EA36-DE43-AFBC-27F1E3CC7416}" srcOrd="0" destOrd="0" presId="urn:microsoft.com/office/officeart/2005/8/layout/vProcess5"/>
    <dgm:cxn modelId="{11C836E6-6AF6-7E4C-BB9F-070DC0530318}" type="presOf" srcId="{E5A61883-22B1-40C3-B954-C924BD6540DC}" destId="{BDF805C3-DFFA-2545-91E8-4CA10543D9CB}" srcOrd="0" destOrd="0" presId="urn:microsoft.com/office/officeart/2005/8/layout/vProcess5"/>
    <dgm:cxn modelId="{B1B1E2F0-1BFC-4FBF-B751-5143C182DDB8}" srcId="{1351CB72-71D6-4058-BDF7-CF70AD656A21}" destId="{F63BA1A4-4103-4B73-AE26-55BC374C8BAC}" srcOrd="2" destOrd="0" parTransId="{8DA5483C-FD8A-4B4A-967B-1184E42EC958}" sibTransId="{14B1105A-B7C9-4CCA-880A-D6CC78CA94F3}"/>
    <dgm:cxn modelId="{2AED8D0F-68C6-4848-BB86-7DE01F1E21A1}" type="presParOf" srcId="{91A6A977-C753-1E4D-8652-418E48CC9BEF}" destId="{0B4F2453-3EBD-FC4D-B85D-893CE736E984}" srcOrd="0" destOrd="0" presId="urn:microsoft.com/office/officeart/2005/8/layout/vProcess5"/>
    <dgm:cxn modelId="{4EFC4A96-279A-0043-9F9B-01CEE9CEB383}" type="presParOf" srcId="{91A6A977-C753-1E4D-8652-418E48CC9BEF}" destId="{AD4826D1-4C42-124B-B089-E8099155E3D3}" srcOrd="1" destOrd="0" presId="urn:microsoft.com/office/officeart/2005/8/layout/vProcess5"/>
    <dgm:cxn modelId="{29E7C508-7A1C-B240-B317-06DDB4D9643E}" type="presParOf" srcId="{91A6A977-C753-1E4D-8652-418E48CC9BEF}" destId="{0438D4CA-C8AF-344F-964F-BF54CC3BE58C}" srcOrd="2" destOrd="0" presId="urn:microsoft.com/office/officeart/2005/8/layout/vProcess5"/>
    <dgm:cxn modelId="{BFF1D80E-6C13-B84F-BA1F-57DDF06BDD80}" type="presParOf" srcId="{91A6A977-C753-1E4D-8652-418E48CC9BEF}" destId="{B38B8946-EA36-DE43-AFBC-27F1E3CC7416}" srcOrd="3" destOrd="0" presId="urn:microsoft.com/office/officeart/2005/8/layout/vProcess5"/>
    <dgm:cxn modelId="{9C718389-3EBD-CA48-9368-B7E72685DF2A}" type="presParOf" srcId="{91A6A977-C753-1E4D-8652-418E48CC9BEF}" destId="{BDF805C3-DFFA-2545-91E8-4CA10543D9CB}" srcOrd="4" destOrd="0" presId="urn:microsoft.com/office/officeart/2005/8/layout/vProcess5"/>
    <dgm:cxn modelId="{309A230A-C29E-6141-BF11-BEF65E12563A}" type="presParOf" srcId="{91A6A977-C753-1E4D-8652-418E48CC9BEF}" destId="{403AA1F4-E2E7-C742-AF9E-B84F69055BCE}" srcOrd="5" destOrd="0" presId="urn:microsoft.com/office/officeart/2005/8/layout/vProcess5"/>
    <dgm:cxn modelId="{9E2BCFA6-7FE5-C64A-BF57-443E3D9807EA}" type="presParOf" srcId="{91A6A977-C753-1E4D-8652-418E48CC9BEF}" destId="{76CC8486-7948-8A41-B706-0897727E1678}" srcOrd="6" destOrd="0" presId="urn:microsoft.com/office/officeart/2005/8/layout/vProcess5"/>
    <dgm:cxn modelId="{48B335F9-F356-0F4A-B0B8-CE719765990C}" type="presParOf" srcId="{91A6A977-C753-1E4D-8652-418E48CC9BEF}" destId="{3B50C699-CFE5-4944-9638-1C24234B1834}" srcOrd="7" destOrd="0" presId="urn:microsoft.com/office/officeart/2005/8/layout/vProcess5"/>
    <dgm:cxn modelId="{457CD4DB-E062-FC4F-8C33-9FE8E1B3465A}" type="presParOf" srcId="{91A6A977-C753-1E4D-8652-418E48CC9BEF}" destId="{C71FD3E6-B1BB-4C4D-A7D7-3CC0808CE9AB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35FA026-4EFC-42FF-968D-E1CB5B3202E7}" type="doc">
      <dgm:prSet loTypeId="urn:microsoft.com/office/officeart/2005/8/layout/vProcess5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8AFD083-9EFE-47DC-94F3-1ECAED8C1876}">
      <dgm:prSet/>
      <dgm:spPr/>
      <dgm:t>
        <a:bodyPr/>
        <a:lstStyle/>
        <a:p>
          <a:r>
            <a:rPr lang="en-US" b="1" dirty="0" err="1">
              <a:solidFill>
                <a:schemeClr val="tx1"/>
              </a:solidFill>
            </a:rPr>
            <a:t>Tokenisation</a:t>
          </a:r>
          <a:r>
            <a:rPr lang="en-US" b="1" dirty="0">
              <a:solidFill>
                <a:schemeClr val="tx1"/>
              </a:solidFill>
            </a:rPr>
            <a:t> &amp; Cleaning</a:t>
          </a:r>
          <a:r>
            <a:rPr lang="en-US" dirty="0">
              <a:solidFill>
                <a:schemeClr val="tx1"/>
              </a:solidFill>
            </a:rPr>
            <a:t> : Suppression des </a:t>
          </a:r>
          <a:r>
            <a:rPr lang="en-US" dirty="0" err="1">
              <a:solidFill>
                <a:schemeClr val="tx1"/>
              </a:solidFill>
            </a:rPr>
            <a:t>balises</a:t>
          </a:r>
          <a:r>
            <a:rPr lang="en-US" dirty="0">
              <a:solidFill>
                <a:schemeClr val="tx1"/>
              </a:solidFill>
            </a:rPr>
            <a:t> HTML, </a:t>
          </a:r>
          <a:r>
            <a:rPr lang="en-US" dirty="0" err="1">
              <a:solidFill>
                <a:schemeClr val="tx1"/>
              </a:solidFill>
            </a:rPr>
            <a:t>ponctuation</a:t>
          </a:r>
          <a:r>
            <a:rPr lang="en-US" dirty="0">
              <a:solidFill>
                <a:schemeClr val="tx1"/>
              </a:solidFill>
            </a:rPr>
            <a:t>, et </a:t>
          </a:r>
          <a:r>
            <a:rPr lang="en-US" dirty="0" err="1">
              <a:solidFill>
                <a:schemeClr val="tx1"/>
              </a:solidFill>
            </a:rPr>
            <a:t>caractères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spéciaux</a:t>
          </a:r>
          <a:r>
            <a:rPr lang="en-US" dirty="0">
              <a:solidFill>
                <a:schemeClr val="tx1"/>
              </a:solidFill>
            </a:rPr>
            <a:t>.</a:t>
          </a:r>
        </a:p>
      </dgm:t>
    </dgm:pt>
    <dgm:pt modelId="{DDEC918F-6500-42C2-B4EF-6E8E4E86828B}" type="parTrans" cxnId="{7FB0EA1C-C769-45B0-ABA5-5CB3E8C8E4C6}">
      <dgm:prSet/>
      <dgm:spPr/>
      <dgm:t>
        <a:bodyPr/>
        <a:lstStyle/>
        <a:p>
          <a:endParaRPr lang="en-US"/>
        </a:p>
      </dgm:t>
    </dgm:pt>
    <dgm:pt modelId="{313116D3-4981-4E14-A1BA-F6613BC0086F}" type="sibTrans" cxnId="{7FB0EA1C-C769-45B0-ABA5-5CB3E8C8E4C6}">
      <dgm:prSet/>
      <dgm:spPr/>
      <dgm:t>
        <a:bodyPr/>
        <a:lstStyle/>
        <a:p>
          <a:endParaRPr lang="en-US"/>
        </a:p>
      </dgm:t>
    </dgm:pt>
    <dgm:pt modelId="{1F0A312D-6B91-48E6-9EBF-0C08008C0FE1}">
      <dgm:prSet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Stop-words</a:t>
          </a:r>
          <a:r>
            <a:rPr lang="en-US" dirty="0">
              <a:solidFill>
                <a:schemeClr val="tx1"/>
              </a:solidFill>
            </a:rPr>
            <a:t> : </a:t>
          </a:r>
          <a:r>
            <a:rPr lang="en-US" dirty="0" err="1">
              <a:solidFill>
                <a:schemeClr val="tx1"/>
              </a:solidFill>
            </a:rPr>
            <a:t>Utilisation</a:t>
          </a:r>
          <a:r>
            <a:rPr lang="en-US" dirty="0">
              <a:solidFill>
                <a:schemeClr val="tx1"/>
              </a:solidFill>
            </a:rPr>
            <a:t> de la bibliothèque NLTK pour </a:t>
          </a:r>
          <a:r>
            <a:rPr lang="en-US" dirty="0" err="1">
              <a:solidFill>
                <a:schemeClr val="tx1"/>
              </a:solidFill>
            </a:rPr>
            <a:t>filtrer</a:t>
          </a:r>
          <a:r>
            <a:rPr lang="en-US" dirty="0">
              <a:solidFill>
                <a:schemeClr val="tx1"/>
              </a:solidFill>
            </a:rPr>
            <a:t> les mots vides.</a:t>
          </a:r>
        </a:p>
      </dgm:t>
    </dgm:pt>
    <dgm:pt modelId="{4A920D3C-81B4-4615-891A-2F41C80B7F91}" type="parTrans" cxnId="{15BAE7EE-CA5B-4ED5-81C9-8DFA13B3D21A}">
      <dgm:prSet/>
      <dgm:spPr/>
      <dgm:t>
        <a:bodyPr/>
        <a:lstStyle/>
        <a:p>
          <a:endParaRPr lang="en-US"/>
        </a:p>
      </dgm:t>
    </dgm:pt>
    <dgm:pt modelId="{724DD1CC-724C-4FA8-9141-4563786E4F4F}" type="sibTrans" cxnId="{15BAE7EE-CA5B-4ED5-81C9-8DFA13B3D21A}">
      <dgm:prSet/>
      <dgm:spPr/>
      <dgm:t>
        <a:bodyPr/>
        <a:lstStyle/>
        <a:p>
          <a:endParaRPr lang="en-US"/>
        </a:p>
      </dgm:t>
    </dgm:pt>
    <dgm:pt modelId="{29A2111C-3E45-47A1-9835-B34D950CE597}">
      <dgm:prSet/>
      <dgm:spPr/>
      <dgm:t>
        <a:bodyPr/>
        <a:lstStyle/>
        <a:p>
          <a:r>
            <a:rPr lang="en-US" b="1" dirty="0" err="1">
              <a:solidFill>
                <a:schemeClr val="tx1"/>
              </a:solidFill>
            </a:rPr>
            <a:t>Lemmatisation</a:t>
          </a:r>
          <a:r>
            <a:rPr lang="en-US" dirty="0">
              <a:solidFill>
                <a:schemeClr val="tx1"/>
              </a:solidFill>
            </a:rPr>
            <a:t> : Choix de </a:t>
          </a:r>
          <a:r>
            <a:rPr lang="en-US" dirty="0" err="1">
              <a:solidFill>
                <a:schemeClr val="tx1"/>
              </a:solidFill>
            </a:rPr>
            <a:t>réduire</a:t>
          </a:r>
          <a:r>
            <a:rPr lang="en-US" dirty="0">
              <a:solidFill>
                <a:schemeClr val="tx1"/>
              </a:solidFill>
            </a:rPr>
            <a:t> les mots à </a:t>
          </a:r>
          <a:r>
            <a:rPr lang="en-US" dirty="0" err="1">
              <a:solidFill>
                <a:schemeClr val="tx1"/>
              </a:solidFill>
            </a:rPr>
            <a:t>leur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racine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sémantique</a:t>
          </a:r>
          <a:r>
            <a:rPr lang="en-US" dirty="0">
              <a:solidFill>
                <a:schemeClr val="tx1"/>
              </a:solidFill>
            </a:rPr>
            <a:t> (ex: “running” -&gt; “run”) </a:t>
          </a:r>
          <a:r>
            <a:rPr lang="en-US" dirty="0" err="1">
              <a:solidFill>
                <a:schemeClr val="tx1"/>
              </a:solidFill>
            </a:rPr>
            <a:t>plutôt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que</a:t>
          </a:r>
          <a:r>
            <a:rPr lang="en-US" dirty="0">
              <a:solidFill>
                <a:schemeClr val="tx1"/>
              </a:solidFill>
            </a:rPr>
            <a:t> le simple “stemming” trop brutal.</a:t>
          </a:r>
        </a:p>
      </dgm:t>
    </dgm:pt>
    <dgm:pt modelId="{D74AF32D-C123-42AB-94FA-F5FBFAC8C222}" type="parTrans" cxnId="{785821E2-B91C-42DF-9EC0-7A5750D0D3A6}">
      <dgm:prSet/>
      <dgm:spPr/>
      <dgm:t>
        <a:bodyPr/>
        <a:lstStyle/>
        <a:p>
          <a:endParaRPr lang="en-US"/>
        </a:p>
      </dgm:t>
    </dgm:pt>
    <dgm:pt modelId="{C3016315-F2AA-4985-ABFE-CD150EDB24C3}" type="sibTrans" cxnId="{785821E2-B91C-42DF-9EC0-7A5750D0D3A6}">
      <dgm:prSet/>
      <dgm:spPr/>
      <dgm:t>
        <a:bodyPr/>
        <a:lstStyle/>
        <a:p>
          <a:endParaRPr lang="en-US"/>
        </a:p>
      </dgm:t>
    </dgm:pt>
    <dgm:pt modelId="{57AF0394-2028-4589-89B1-A867D8F133F4}">
      <dgm:prSet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Objectif</a:t>
          </a:r>
          <a:r>
            <a:rPr lang="en-US" dirty="0">
              <a:solidFill>
                <a:schemeClr val="tx1"/>
              </a:solidFill>
            </a:rPr>
            <a:t> : Réduire la taille du </a:t>
          </a:r>
          <a:r>
            <a:rPr lang="en-US" dirty="0" err="1">
              <a:solidFill>
                <a:schemeClr val="tx1"/>
              </a:solidFill>
            </a:rPr>
            <a:t>vocabulaire</a:t>
          </a:r>
          <a:r>
            <a:rPr lang="en-US" dirty="0">
              <a:solidFill>
                <a:schemeClr val="tx1"/>
              </a:solidFill>
            </a:rPr>
            <a:t> tout </a:t>
          </a:r>
          <a:r>
            <a:rPr lang="en-US" dirty="0" err="1">
              <a:solidFill>
                <a:schemeClr val="tx1"/>
              </a:solidFill>
            </a:rPr>
            <a:t>en</a:t>
          </a:r>
          <a:r>
            <a:rPr lang="en-US" dirty="0">
              <a:solidFill>
                <a:schemeClr val="tx1"/>
              </a:solidFill>
            </a:rPr>
            <a:t> gardant le </a:t>
          </a:r>
          <a:r>
            <a:rPr lang="en-US" dirty="0" err="1">
              <a:solidFill>
                <a:schemeClr val="tx1"/>
              </a:solidFill>
            </a:rPr>
            <a:t>sens.</a:t>
          </a:r>
          <a:endParaRPr lang="en-US" dirty="0">
            <a:solidFill>
              <a:schemeClr val="tx1"/>
            </a:solidFill>
          </a:endParaRPr>
        </a:p>
      </dgm:t>
    </dgm:pt>
    <dgm:pt modelId="{58DA7DD0-8C35-4BB3-BF6A-6F0282D5B616}" type="parTrans" cxnId="{7CF90464-DC67-4980-B94B-A06A5C465877}">
      <dgm:prSet/>
      <dgm:spPr/>
      <dgm:t>
        <a:bodyPr/>
        <a:lstStyle/>
        <a:p>
          <a:endParaRPr lang="en-US"/>
        </a:p>
      </dgm:t>
    </dgm:pt>
    <dgm:pt modelId="{71DB1FD2-A8BD-4080-B48A-C545949300A2}" type="sibTrans" cxnId="{7CF90464-DC67-4980-B94B-A06A5C465877}">
      <dgm:prSet/>
      <dgm:spPr/>
      <dgm:t>
        <a:bodyPr/>
        <a:lstStyle/>
        <a:p>
          <a:endParaRPr lang="en-US"/>
        </a:p>
      </dgm:t>
    </dgm:pt>
    <dgm:pt modelId="{A1EFEAC2-44E4-3745-B188-9A3BA58AEA14}" type="pres">
      <dgm:prSet presAssocID="{335FA026-4EFC-42FF-968D-E1CB5B3202E7}" presName="outerComposite" presStyleCnt="0">
        <dgm:presLayoutVars>
          <dgm:chMax val="5"/>
          <dgm:dir/>
          <dgm:resizeHandles val="exact"/>
        </dgm:presLayoutVars>
      </dgm:prSet>
      <dgm:spPr/>
    </dgm:pt>
    <dgm:pt modelId="{5243F0E8-3D96-6C42-BA85-9ED15C0821F2}" type="pres">
      <dgm:prSet presAssocID="{335FA026-4EFC-42FF-968D-E1CB5B3202E7}" presName="dummyMaxCanvas" presStyleCnt="0">
        <dgm:presLayoutVars/>
      </dgm:prSet>
      <dgm:spPr/>
    </dgm:pt>
    <dgm:pt modelId="{B6AC21FB-D560-D241-9B3C-FF2B228B08BB}" type="pres">
      <dgm:prSet presAssocID="{335FA026-4EFC-42FF-968D-E1CB5B3202E7}" presName="FourNodes_1" presStyleLbl="node1" presStyleIdx="0" presStyleCnt="4">
        <dgm:presLayoutVars>
          <dgm:bulletEnabled val="1"/>
        </dgm:presLayoutVars>
      </dgm:prSet>
      <dgm:spPr/>
    </dgm:pt>
    <dgm:pt modelId="{8AB13E6D-93DB-9140-815A-6AB3FBBADB44}" type="pres">
      <dgm:prSet presAssocID="{335FA026-4EFC-42FF-968D-E1CB5B3202E7}" presName="FourNodes_2" presStyleLbl="node1" presStyleIdx="1" presStyleCnt="4">
        <dgm:presLayoutVars>
          <dgm:bulletEnabled val="1"/>
        </dgm:presLayoutVars>
      </dgm:prSet>
      <dgm:spPr/>
    </dgm:pt>
    <dgm:pt modelId="{9B2DD0C4-42F4-E144-96C1-1ED28D3AE29D}" type="pres">
      <dgm:prSet presAssocID="{335FA026-4EFC-42FF-968D-E1CB5B3202E7}" presName="FourNodes_3" presStyleLbl="node1" presStyleIdx="2" presStyleCnt="4">
        <dgm:presLayoutVars>
          <dgm:bulletEnabled val="1"/>
        </dgm:presLayoutVars>
      </dgm:prSet>
      <dgm:spPr/>
    </dgm:pt>
    <dgm:pt modelId="{4D4DBAEB-3A85-F647-88C0-7156D0A62DCD}" type="pres">
      <dgm:prSet presAssocID="{335FA026-4EFC-42FF-968D-E1CB5B3202E7}" presName="FourNodes_4" presStyleLbl="node1" presStyleIdx="3" presStyleCnt="4">
        <dgm:presLayoutVars>
          <dgm:bulletEnabled val="1"/>
        </dgm:presLayoutVars>
      </dgm:prSet>
      <dgm:spPr/>
    </dgm:pt>
    <dgm:pt modelId="{B10F77E6-4C77-C741-9AB7-0271A340C768}" type="pres">
      <dgm:prSet presAssocID="{335FA026-4EFC-42FF-968D-E1CB5B3202E7}" presName="FourConn_1-2" presStyleLbl="fgAccFollowNode1" presStyleIdx="0" presStyleCnt="3">
        <dgm:presLayoutVars>
          <dgm:bulletEnabled val="1"/>
        </dgm:presLayoutVars>
      </dgm:prSet>
      <dgm:spPr/>
    </dgm:pt>
    <dgm:pt modelId="{AE7F2909-368A-1A4D-99F5-3B8BFA0C54D6}" type="pres">
      <dgm:prSet presAssocID="{335FA026-4EFC-42FF-968D-E1CB5B3202E7}" presName="FourConn_2-3" presStyleLbl="fgAccFollowNode1" presStyleIdx="1" presStyleCnt="3">
        <dgm:presLayoutVars>
          <dgm:bulletEnabled val="1"/>
        </dgm:presLayoutVars>
      </dgm:prSet>
      <dgm:spPr/>
    </dgm:pt>
    <dgm:pt modelId="{EBC3AE2F-6446-8E42-8EA9-411751307C63}" type="pres">
      <dgm:prSet presAssocID="{335FA026-4EFC-42FF-968D-E1CB5B3202E7}" presName="FourConn_3-4" presStyleLbl="fgAccFollowNode1" presStyleIdx="2" presStyleCnt="3">
        <dgm:presLayoutVars>
          <dgm:bulletEnabled val="1"/>
        </dgm:presLayoutVars>
      </dgm:prSet>
      <dgm:spPr/>
    </dgm:pt>
    <dgm:pt modelId="{0DBD3FED-B265-104D-A069-C19D05719A4E}" type="pres">
      <dgm:prSet presAssocID="{335FA026-4EFC-42FF-968D-E1CB5B3202E7}" presName="FourNodes_1_text" presStyleLbl="node1" presStyleIdx="3" presStyleCnt="4">
        <dgm:presLayoutVars>
          <dgm:bulletEnabled val="1"/>
        </dgm:presLayoutVars>
      </dgm:prSet>
      <dgm:spPr/>
    </dgm:pt>
    <dgm:pt modelId="{E28CE022-0EAB-0040-9BBA-E244D2AF22B4}" type="pres">
      <dgm:prSet presAssocID="{335FA026-4EFC-42FF-968D-E1CB5B3202E7}" presName="FourNodes_2_text" presStyleLbl="node1" presStyleIdx="3" presStyleCnt="4">
        <dgm:presLayoutVars>
          <dgm:bulletEnabled val="1"/>
        </dgm:presLayoutVars>
      </dgm:prSet>
      <dgm:spPr/>
    </dgm:pt>
    <dgm:pt modelId="{BB663344-1EFC-D14F-9377-8D29421F3DA3}" type="pres">
      <dgm:prSet presAssocID="{335FA026-4EFC-42FF-968D-E1CB5B3202E7}" presName="FourNodes_3_text" presStyleLbl="node1" presStyleIdx="3" presStyleCnt="4">
        <dgm:presLayoutVars>
          <dgm:bulletEnabled val="1"/>
        </dgm:presLayoutVars>
      </dgm:prSet>
      <dgm:spPr/>
    </dgm:pt>
    <dgm:pt modelId="{EAFA4D8D-161C-6A46-82AB-68AC7EB1BDAA}" type="pres">
      <dgm:prSet presAssocID="{335FA026-4EFC-42FF-968D-E1CB5B3202E7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73D99603-7B2E-2A45-AEE9-F67F8446DFE4}" type="presOf" srcId="{38AFD083-9EFE-47DC-94F3-1ECAED8C1876}" destId="{B6AC21FB-D560-D241-9B3C-FF2B228B08BB}" srcOrd="0" destOrd="0" presId="urn:microsoft.com/office/officeart/2005/8/layout/vProcess5"/>
    <dgm:cxn modelId="{96E77D0B-86D1-F849-A5B0-925F5F723E79}" type="presOf" srcId="{724DD1CC-724C-4FA8-9141-4563786E4F4F}" destId="{AE7F2909-368A-1A4D-99F5-3B8BFA0C54D6}" srcOrd="0" destOrd="0" presId="urn:microsoft.com/office/officeart/2005/8/layout/vProcess5"/>
    <dgm:cxn modelId="{009ADB13-A9EB-DE44-A7AF-75DC9BCE3D48}" type="presOf" srcId="{57AF0394-2028-4589-89B1-A867D8F133F4}" destId="{EAFA4D8D-161C-6A46-82AB-68AC7EB1BDAA}" srcOrd="1" destOrd="0" presId="urn:microsoft.com/office/officeart/2005/8/layout/vProcess5"/>
    <dgm:cxn modelId="{7FB0EA1C-C769-45B0-ABA5-5CB3E8C8E4C6}" srcId="{335FA026-4EFC-42FF-968D-E1CB5B3202E7}" destId="{38AFD083-9EFE-47DC-94F3-1ECAED8C1876}" srcOrd="0" destOrd="0" parTransId="{DDEC918F-6500-42C2-B4EF-6E8E4E86828B}" sibTransId="{313116D3-4981-4E14-A1BA-F6613BC0086F}"/>
    <dgm:cxn modelId="{6EC4EF2D-F2D2-7F48-A1B3-5464A60CF67F}" type="presOf" srcId="{335FA026-4EFC-42FF-968D-E1CB5B3202E7}" destId="{A1EFEAC2-44E4-3745-B188-9A3BA58AEA14}" srcOrd="0" destOrd="0" presId="urn:microsoft.com/office/officeart/2005/8/layout/vProcess5"/>
    <dgm:cxn modelId="{7CF90464-DC67-4980-B94B-A06A5C465877}" srcId="{335FA026-4EFC-42FF-968D-E1CB5B3202E7}" destId="{57AF0394-2028-4589-89B1-A867D8F133F4}" srcOrd="3" destOrd="0" parTransId="{58DA7DD0-8C35-4BB3-BF6A-6F0282D5B616}" sibTransId="{71DB1FD2-A8BD-4080-B48A-C545949300A2}"/>
    <dgm:cxn modelId="{B360F09A-BA22-FF44-938C-8924F7E5300D}" type="presOf" srcId="{C3016315-F2AA-4985-ABFE-CD150EDB24C3}" destId="{EBC3AE2F-6446-8E42-8EA9-411751307C63}" srcOrd="0" destOrd="0" presId="urn:microsoft.com/office/officeart/2005/8/layout/vProcess5"/>
    <dgm:cxn modelId="{CB4005A1-FE39-EF4A-B62E-535DAC07774D}" type="presOf" srcId="{1F0A312D-6B91-48E6-9EBF-0C08008C0FE1}" destId="{8AB13E6D-93DB-9140-815A-6AB3FBBADB44}" srcOrd="0" destOrd="0" presId="urn:microsoft.com/office/officeart/2005/8/layout/vProcess5"/>
    <dgm:cxn modelId="{41F8B1C1-B546-1E42-AD75-2E221E000907}" type="presOf" srcId="{57AF0394-2028-4589-89B1-A867D8F133F4}" destId="{4D4DBAEB-3A85-F647-88C0-7156D0A62DCD}" srcOrd="0" destOrd="0" presId="urn:microsoft.com/office/officeart/2005/8/layout/vProcess5"/>
    <dgm:cxn modelId="{EC5E69E1-E46E-CC42-8CCB-21E0821F7F70}" type="presOf" srcId="{1F0A312D-6B91-48E6-9EBF-0C08008C0FE1}" destId="{E28CE022-0EAB-0040-9BBA-E244D2AF22B4}" srcOrd="1" destOrd="0" presId="urn:microsoft.com/office/officeart/2005/8/layout/vProcess5"/>
    <dgm:cxn modelId="{785821E2-B91C-42DF-9EC0-7A5750D0D3A6}" srcId="{335FA026-4EFC-42FF-968D-E1CB5B3202E7}" destId="{29A2111C-3E45-47A1-9835-B34D950CE597}" srcOrd="2" destOrd="0" parTransId="{D74AF32D-C123-42AB-94FA-F5FBFAC8C222}" sibTransId="{C3016315-F2AA-4985-ABFE-CD150EDB24C3}"/>
    <dgm:cxn modelId="{B8A55CE3-1E47-E74A-8F23-BF59F33E4881}" type="presOf" srcId="{38AFD083-9EFE-47DC-94F3-1ECAED8C1876}" destId="{0DBD3FED-B265-104D-A069-C19D05719A4E}" srcOrd="1" destOrd="0" presId="urn:microsoft.com/office/officeart/2005/8/layout/vProcess5"/>
    <dgm:cxn modelId="{73BEB7E7-5D86-2B49-968E-9767A3A74950}" type="presOf" srcId="{29A2111C-3E45-47A1-9835-B34D950CE597}" destId="{9B2DD0C4-42F4-E144-96C1-1ED28D3AE29D}" srcOrd="0" destOrd="0" presId="urn:microsoft.com/office/officeart/2005/8/layout/vProcess5"/>
    <dgm:cxn modelId="{15BAE7EE-CA5B-4ED5-81C9-8DFA13B3D21A}" srcId="{335FA026-4EFC-42FF-968D-E1CB5B3202E7}" destId="{1F0A312D-6B91-48E6-9EBF-0C08008C0FE1}" srcOrd="1" destOrd="0" parTransId="{4A920D3C-81B4-4615-891A-2F41C80B7F91}" sibTransId="{724DD1CC-724C-4FA8-9141-4563786E4F4F}"/>
    <dgm:cxn modelId="{EC69ACF5-214D-394C-ABC3-5D4847E9FBC3}" type="presOf" srcId="{313116D3-4981-4E14-A1BA-F6613BC0086F}" destId="{B10F77E6-4C77-C741-9AB7-0271A340C768}" srcOrd="0" destOrd="0" presId="urn:microsoft.com/office/officeart/2005/8/layout/vProcess5"/>
    <dgm:cxn modelId="{AC2773F6-4038-2144-B0B3-99B316ED7F63}" type="presOf" srcId="{29A2111C-3E45-47A1-9835-B34D950CE597}" destId="{BB663344-1EFC-D14F-9377-8D29421F3DA3}" srcOrd="1" destOrd="0" presId="urn:microsoft.com/office/officeart/2005/8/layout/vProcess5"/>
    <dgm:cxn modelId="{6027289E-5C48-E640-9204-C8A3703E439B}" type="presParOf" srcId="{A1EFEAC2-44E4-3745-B188-9A3BA58AEA14}" destId="{5243F0E8-3D96-6C42-BA85-9ED15C0821F2}" srcOrd="0" destOrd="0" presId="urn:microsoft.com/office/officeart/2005/8/layout/vProcess5"/>
    <dgm:cxn modelId="{D684EF33-BEB4-A448-9F45-0CAB90B07504}" type="presParOf" srcId="{A1EFEAC2-44E4-3745-B188-9A3BA58AEA14}" destId="{B6AC21FB-D560-D241-9B3C-FF2B228B08BB}" srcOrd="1" destOrd="0" presId="urn:microsoft.com/office/officeart/2005/8/layout/vProcess5"/>
    <dgm:cxn modelId="{842DE750-1AA7-9340-8287-A375AA6B8CBB}" type="presParOf" srcId="{A1EFEAC2-44E4-3745-B188-9A3BA58AEA14}" destId="{8AB13E6D-93DB-9140-815A-6AB3FBBADB44}" srcOrd="2" destOrd="0" presId="urn:microsoft.com/office/officeart/2005/8/layout/vProcess5"/>
    <dgm:cxn modelId="{37F4C676-95F1-A44F-97AA-CF6278EB764F}" type="presParOf" srcId="{A1EFEAC2-44E4-3745-B188-9A3BA58AEA14}" destId="{9B2DD0C4-42F4-E144-96C1-1ED28D3AE29D}" srcOrd="3" destOrd="0" presId="urn:microsoft.com/office/officeart/2005/8/layout/vProcess5"/>
    <dgm:cxn modelId="{95A67FBF-7E1F-D744-9517-8209A818C444}" type="presParOf" srcId="{A1EFEAC2-44E4-3745-B188-9A3BA58AEA14}" destId="{4D4DBAEB-3A85-F647-88C0-7156D0A62DCD}" srcOrd="4" destOrd="0" presId="urn:microsoft.com/office/officeart/2005/8/layout/vProcess5"/>
    <dgm:cxn modelId="{ABE60833-4891-1A46-B4C3-26FD1CB35B5B}" type="presParOf" srcId="{A1EFEAC2-44E4-3745-B188-9A3BA58AEA14}" destId="{B10F77E6-4C77-C741-9AB7-0271A340C768}" srcOrd="5" destOrd="0" presId="urn:microsoft.com/office/officeart/2005/8/layout/vProcess5"/>
    <dgm:cxn modelId="{72BE27E9-B773-9442-8CD7-F32285953AB0}" type="presParOf" srcId="{A1EFEAC2-44E4-3745-B188-9A3BA58AEA14}" destId="{AE7F2909-368A-1A4D-99F5-3B8BFA0C54D6}" srcOrd="6" destOrd="0" presId="urn:microsoft.com/office/officeart/2005/8/layout/vProcess5"/>
    <dgm:cxn modelId="{14532ECC-023A-E147-BEE3-885178268EAF}" type="presParOf" srcId="{A1EFEAC2-44E4-3745-B188-9A3BA58AEA14}" destId="{EBC3AE2F-6446-8E42-8EA9-411751307C63}" srcOrd="7" destOrd="0" presId="urn:microsoft.com/office/officeart/2005/8/layout/vProcess5"/>
    <dgm:cxn modelId="{A431F153-0F36-DC44-809E-F1FD95D36AA6}" type="presParOf" srcId="{A1EFEAC2-44E4-3745-B188-9A3BA58AEA14}" destId="{0DBD3FED-B265-104D-A069-C19D05719A4E}" srcOrd="8" destOrd="0" presId="urn:microsoft.com/office/officeart/2005/8/layout/vProcess5"/>
    <dgm:cxn modelId="{E6601C8D-640D-E54E-9DDF-9E66F3A9D24C}" type="presParOf" srcId="{A1EFEAC2-44E4-3745-B188-9A3BA58AEA14}" destId="{E28CE022-0EAB-0040-9BBA-E244D2AF22B4}" srcOrd="9" destOrd="0" presId="urn:microsoft.com/office/officeart/2005/8/layout/vProcess5"/>
    <dgm:cxn modelId="{0B2B48B6-4007-8648-9429-9B7B1F78CC3D}" type="presParOf" srcId="{A1EFEAC2-44E4-3745-B188-9A3BA58AEA14}" destId="{BB663344-1EFC-D14F-9377-8D29421F3DA3}" srcOrd="10" destOrd="0" presId="urn:microsoft.com/office/officeart/2005/8/layout/vProcess5"/>
    <dgm:cxn modelId="{87A6C055-B537-B147-B849-18113FC3F855}" type="presParOf" srcId="{A1EFEAC2-44E4-3745-B188-9A3BA58AEA14}" destId="{EAFA4D8D-161C-6A46-82AB-68AC7EB1BDAA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42F2487-A508-4243-9879-1BA9EC645D6A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7CEAAF6-54C7-49C3-8C16-2C669C5D955A}">
      <dgm:prSet/>
      <dgm:spPr/>
      <dgm:t>
        <a:bodyPr/>
        <a:lstStyle/>
        <a:p>
          <a:r>
            <a:rPr lang="en-US" b="1"/>
            <a:t>Redimensionnement</a:t>
          </a:r>
          <a:r>
            <a:rPr lang="en-US"/>
            <a:t> : Passage en 224x224 pixels (format standard pour VGG16).</a:t>
          </a:r>
        </a:p>
      </dgm:t>
    </dgm:pt>
    <dgm:pt modelId="{0FD3DF7D-486D-40B4-A566-C0C33D42EFBB}" type="parTrans" cxnId="{07AF0524-73A1-4B61-A946-4686597B7FFA}">
      <dgm:prSet/>
      <dgm:spPr/>
      <dgm:t>
        <a:bodyPr/>
        <a:lstStyle/>
        <a:p>
          <a:endParaRPr lang="en-US"/>
        </a:p>
      </dgm:t>
    </dgm:pt>
    <dgm:pt modelId="{2D0A5C1E-5EBF-46F6-B637-5B1C6D75CE0C}" type="sibTrans" cxnId="{07AF0524-73A1-4B61-A946-4686597B7FFA}">
      <dgm:prSet/>
      <dgm:spPr/>
      <dgm:t>
        <a:bodyPr/>
        <a:lstStyle/>
        <a:p>
          <a:endParaRPr lang="en-US"/>
        </a:p>
      </dgm:t>
    </dgm:pt>
    <dgm:pt modelId="{1F6519A6-27DA-422F-9F2B-94D3A09F2676}">
      <dgm:prSet/>
      <dgm:spPr/>
      <dgm:t>
        <a:bodyPr/>
        <a:lstStyle/>
        <a:p>
          <a:r>
            <a:rPr lang="en-US" b="1"/>
            <a:t>Normalisation</a:t>
          </a:r>
          <a:r>
            <a:rPr lang="en-US"/>
            <a:t> : Mise à l’échelle des intensités de pixels (0-1 ou -1 à 1) pour stabiliser la descente de gradient.</a:t>
          </a:r>
        </a:p>
      </dgm:t>
    </dgm:pt>
    <dgm:pt modelId="{1EDE055E-CC83-48F0-B06D-6081FAC65246}" type="parTrans" cxnId="{1C8DEF8B-6D78-460E-BDD3-33FF316F71AC}">
      <dgm:prSet/>
      <dgm:spPr/>
      <dgm:t>
        <a:bodyPr/>
        <a:lstStyle/>
        <a:p>
          <a:endParaRPr lang="en-US"/>
        </a:p>
      </dgm:t>
    </dgm:pt>
    <dgm:pt modelId="{CF7556C2-D1A3-4112-8787-40A3EA4649BB}" type="sibTrans" cxnId="{1C8DEF8B-6D78-460E-BDD3-33FF316F71AC}">
      <dgm:prSet/>
      <dgm:spPr/>
      <dgm:t>
        <a:bodyPr/>
        <a:lstStyle/>
        <a:p>
          <a:endParaRPr lang="en-US"/>
        </a:p>
      </dgm:t>
    </dgm:pt>
    <dgm:pt modelId="{F2F8A815-74C6-491A-8A3D-7F60091E670F}">
      <dgm:prSet/>
      <dgm:spPr/>
      <dgm:t>
        <a:bodyPr/>
        <a:lstStyle/>
        <a:p>
          <a:r>
            <a:rPr lang="en-US" b="1"/>
            <a:t>Filtrage</a:t>
          </a:r>
          <a:r>
            <a:rPr lang="en-US"/>
            <a:t> : Application facultative de flou gaussien pour réduire le bruit sur certains visuels.</a:t>
          </a:r>
        </a:p>
      </dgm:t>
    </dgm:pt>
    <dgm:pt modelId="{E2EB85FA-D264-4758-A1BE-88107CF9C639}" type="parTrans" cxnId="{E171C189-57D7-4CC3-B373-9318082CB275}">
      <dgm:prSet/>
      <dgm:spPr/>
      <dgm:t>
        <a:bodyPr/>
        <a:lstStyle/>
        <a:p>
          <a:endParaRPr lang="en-US"/>
        </a:p>
      </dgm:t>
    </dgm:pt>
    <dgm:pt modelId="{9DC985B4-8294-40DD-93DA-F2C0FB56E93C}" type="sibTrans" cxnId="{E171C189-57D7-4CC3-B373-9318082CB275}">
      <dgm:prSet/>
      <dgm:spPr/>
      <dgm:t>
        <a:bodyPr/>
        <a:lstStyle/>
        <a:p>
          <a:endParaRPr lang="en-US"/>
        </a:p>
      </dgm:t>
    </dgm:pt>
    <dgm:pt modelId="{FE149719-D702-FF40-A21E-2538756AF954}" type="pres">
      <dgm:prSet presAssocID="{F42F2487-A508-4243-9879-1BA9EC645D6A}" presName="outerComposite" presStyleCnt="0">
        <dgm:presLayoutVars>
          <dgm:chMax val="5"/>
          <dgm:dir/>
          <dgm:resizeHandles val="exact"/>
        </dgm:presLayoutVars>
      </dgm:prSet>
      <dgm:spPr/>
    </dgm:pt>
    <dgm:pt modelId="{877503A2-2284-7F42-9166-207C06FA4710}" type="pres">
      <dgm:prSet presAssocID="{F42F2487-A508-4243-9879-1BA9EC645D6A}" presName="dummyMaxCanvas" presStyleCnt="0">
        <dgm:presLayoutVars/>
      </dgm:prSet>
      <dgm:spPr/>
    </dgm:pt>
    <dgm:pt modelId="{481ABD19-F8E4-DC45-8D48-2381DEC7C66F}" type="pres">
      <dgm:prSet presAssocID="{F42F2487-A508-4243-9879-1BA9EC645D6A}" presName="ThreeNodes_1" presStyleLbl="node1" presStyleIdx="0" presStyleCnt="3">
        <dgm:presLayoutVars>
          <dgm:bulletEnabled val="1"/>
        </dgm:presLayoutVars>
      </dgm:prSet>
      <dgm:spPr/>
    </dgm:pt>
    <dgm:pt modelId="{C4151919-AC14-E14E-8485-3C6EE272C30A}" type="pres">
      <dgm:prSet presAssocID="{F42F2487-A508-4243-9879-1BA9EC645D6A}" presName="ThreeNodes_2" presStyleLbl="node1" presStyleIdx="1" presStyleCnt="3">
        <dgm:presLayoutVars>
          <dgm:bulletEnabled val="1"/>
        </dgm:presLayoutVars>
      </dgm:prSet>
      <dgm:spPr/>
    </dgm:pt>
    <dgm:pt modelId="{BC9AE495-5BF8-ED40-8CD7-0684FF1EDBE2}" type="pres">
      <dgm:prSet presAssocID="{F42F2487-A508-4243-9879-1BA9EC645D6A}" presName="ThreeNodes_3" presStyleLbl="node1" presStyleIdx="2" presStyleCnt="3">
        <dgm:presLayoutVars>
          <dgm:bulletEnabled val="1"/>
        </dgm:presLayoutVars>
      </dgm:prSet>
      <dgm:spPr/>
    </dgm:pt>
    <dgm:pt modelId="{E283C285-D979-5446-A2D6-8F9BED01E924}" type="pres">
      <dgm:prSet presAssocID="{F42F2487-A508-4243-9879-1BA9EC645D6A}" presName="ThreeConn_1-2" presStyleLbl="fgAccFollowNode1" presStyleIdx="0" presStyleCnt="2">
        <dgm:presLayoutVars>
          <dgm:bulletEnabled val="1"/>
        </dgm:presLayoutVars>
      </dgm:prSet>
      <dgm:spPr/>
    </dgm:pt>
    <dgm:pt modelId="{773AEA6D-B3F7-7741-A255-97B5CC2FA653}" type="pres">
      <dgm:prSet presAssocID="{F42F2487-A508-4243-9879-1BA9EC645D6A}" presName="ThreeConn_2-3" presStyleLbl="fgAccFollowNode1" presStyleIdx="1" presStyleCnt="2">
        <dgm:presLayoutVars>
          <dgm:bulletEnabled val="1"/>
        </dgm:presLayoutVars>
      </dgm:prSet>
      <dgm:spPr/>
    </dgm:pt>
    <dgm:pt modelId="{1E02806E-03F3-EB45-AA65-56859B5D83A9}" type="pres">
      <dgm:prSet presAssocID="{F42F2487-A508-4243-9879-1BA9EC645D6A}" presName="ThreeNodes_1_text" presStyleLbl="node1" presStyleIdx="2" presStyleCnt="3">
        <dgm:presLayoutVars>
          <dgm:bulletEnabled val="1"/>
        </dgm:presLayoutVars>
      </dgm:prSet>
      <dgm:spPr/>
    </dgm:pt>
    <dgm:pt modelId="{B5AD0177-A1F9-CC45-BC0D-C3685DBE369E}" type="pres">
      <dgm:prSet presAssocID="{F42F2487-A508-4243-9879-1BA9EC645D6A}" presName="ThreeNodes_2_text" presStyleLbl="node1" presStyleIdx="2" presStyleCnt="3">
        <dgm:presLayoutVars>
          <dgm:bulletEnabled val="1"/>
        </dgm:presLayoutVars>
      </dgm:prSet>
      <dgm:spPr/>
    </dgm:pt>
    <dgm:pt modelId="{97184F7F-FC67-9348-9518-A39A6EF896B6}" type="pres">
      <dgm:prSet presAssocID="{F42F2487-A508-4243-9879-1BA9EC645D6A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51A8FF08-0AC7-4342-A39B-E53D9DC50FEC}" type="presOf" srcId="{A7CEAAF6-54C7-49C3-8C16-2C669C5D955A}" destId="{481ABD19-F8E4-DC45-8D48-2381DEC7C66F}" srcOrd="0" destOrd="0" presId="urn:microsoft.com/office/officeart/2005/8/layout/vProcess5"/>
    <dgm:cxn modelId="{07AF0524-73A1-4B61-A946-4686597B7FFA}" srcId="{F42F2487-A508-4243-9879-1BA9EC645D6A}" destId="{A7CEAAF6-54C7-49C3-8C16-2C669C5D955A}" srcOrd="0" destOrd="0" parTransId="{0FD3DF7D-486D-40B4-A566-C0C33D42EFBB}" sibTransId="{2D0A5C1E-5EBF-46F6-B637-5B1C6D75CE0C}"/>
    <dgm:cxn modelId="{01B97248-1ED9-4841-8104-268A9BA999FC}" type="presOf" srcId="{1F6519A6-27DA-422F-9F2B-94D3A09F2676}" destId="{B5AD0177-A1F9-CC45-BC0D-C3685DBE369E}" srcOrd="1" destOrd="0" presId="urn:microsoft.com/office/officeart/2005/8/layout/vProcess5"/>
    <dgm:cxn modelId="{7A54467A-E169-EC49-91D0-F1A0F1CDCC7B}" type="presOf" srcId="{1F6519A6-27DA-422F-9F2B-94D3A09F2676}" destId="{C4151919-AC14-E14E-8485-3C6EE272C30A}" srcOrd="0" destOrd="0" presId="urn:microsoft.com/office/officeart/2005/8/layout/vProcess5"/>
    <dgm:cxn modelId="{16030C85-B03B-9843-B351-8BC86AC19EE1}" type="presOf" srcId="{2D0A5C1E-5EBF-46F6-B637-5B1C6D75CE0C}" destId="{E283C285-D979-5446-A2D6-8F9BED01E924}" srcOrd="0" destOrd="0" presId="urn:microsoft.com/office/officeart/2005/8/layout/vProcess5"/>
    <dgm:cxn modelId="{E171C189-57D7-4CC3-B373-9318082CB275}" srcId="{F42F2487-A508-4243-9879-1BA9EC645D6A}" destId="{F2F8A815-74C6-491A-8A3D-7F60091E670F}" srcOrd="2" destOrd="0" parTransId="{E2EB85FA-D264-4758-A1BE-88107CF9C639}" sibTransId="{9DC985B4-8294-40DD-93DA-F2C0FB56E93C}"/>
    <dgm:cxn modelId="{1C8DEF8B-6D78-460E-BDD3-33FF316F71AC}" srcId="{F42F2487-A508-4243-9879-1BA9EC645D6A}" destId="{1F6519A6-27DA-422F-9F2B-94D3A09F2676}" srcOrd="1" destOrd="0" parTransId="{1EDE055E-CC83-48F0-B06D-6081FAC65246}" sibTransId="{CF7556C2-D1A3-4112-8787-40A3EA4649BB}"/>
    <dgm:cxn modelId="{571D70AD-4196-4B46-9EAF-6BF76818C241}" type="presOf" srcId="{F42F2487-A508-4243-9879-1BA9EC645D6A}" destId="{FE149719-D702-FF40-A21E-2538756AF954}" srcOrd="0" destOrd="0" presId="urn:microsoft.com/office/officeart/2005/8/layout/vProcess5"/>
    <dgm:cxn modelId="{1C7B83D6-F49C-4E4C-85BD-E9C91E232832}" type="presOf" srcId="{F2F8A815-74C6-491A-8A3D-7F60091E670F}" destId="{BC9AE495-5BF8-ED40-8CD7-0684FF1EDBE2}" srcOrd="0" destOrd="0" presId="urn:microsoft.com/office/officeart/2005/8/layout/vProcess5"/>
    <dgm:cxn modelId="{1CF625E9-37A4-FA4F-AB12-F725CC7A04C6}" type="presOf" srcId="{CF7556C2-D1A3-4112-8787-40A3EA4649BB}" destId="{773AEA6D-B3F7-7741-A255-97B5CC2FA653}" srcOrd="0" destOrd="0" presId="urn:microsoft.com/office/officeart/2005/8/layout/vProcess5"/>
    <dgm:cxn modelId="{288C63EA-FB19-C243-8417-B279296799DF}" type="presOf" srcId="{F2F8A815-74C6-491A-8A3D-7F60091E670F}" destId="{97184F7F-FC67-9348-9518-A39A6EF896B6}" srcOrd="1" destOrd="0" presId="urn:microsoft.com/office/officeart/2005/8/layout/vProcess5"/>
    <dgm:cxn modelId="{E14B14F2-8E6E-5947-9BDB-6F1F5793B2C1}" type="presOf" srcId="{A7CEAAF6-54C7-49C3-8C16-2C669C5D955A}" destId="{1E02806E-03F3-EB45-AA65-56859B5D83A9}" srcOrd="1" destOrd="0" presId="urn:microsoft.com/office/officeart/2005/8/layout/vProcess5"/>
    <dgm:cxn modelId="{21854642-4FE5-A841-82FC-E89B9D562FBD}" type="presParOf" srcId="{FE149719-D702-FF40-A21E-2538756AF954}" destId="{877503A2-2284-7F42-9166-207C06FA4710}" srcOrd="0" destOrd="0" presId="urn:microsoft.com/office/officeart/2005/8/layout/vProcess5"/>
    <dgm:cxn modelId="{66CAC4C0-D5C2-F445-8FC1-B629BEC397B3}" type="presParOf" srcId="{FE149719-D702-FF40-A21E-2538756AF954}" destId="{481ABD19-F8E4-DC45-8D48-2381DEC7C66F}" srcOrd="1" destOrd="0" presId="urn:microsoft.com/office/officeart/2005/8/layout/vProcess5"/>
    <dgm:cxn modelId="{98A4BD19-582A-D742-9E5A-EBEE4D4AB5F0}" type="presParOf" srcId="{FE149719-D702-FF40-A21E-2538756AF954}" destId="{C4151919-AC14-E14E-8485-3C6EE272C30A}" srcOrd="2" destOrd="0" presId="urn:microsoft.com/office/officeart/2005/8/layout/vProcess5"/>
    <dgm:cxn modelId="{C9F38D12-8A4B-EB48-98D2-0053F13A06D5}" type="presParOf" srcId="{FE149719-D702-FF40-A21E-2538756AF954}" destId="{BC9AE495-5BF8-ED40-8CD7-0684FF1EDBE2}" srcOrd="3" destOrd="0" presId="urn:microsoft.com/office/officeart/2005/8/layout/vProcess5"/>
    <dgm:cxn modelId="{D6378B02-1039-E94B-8C79-F887A4755CDC}" type="presParOf" srcId="{FE149719-D702-FF40-A21E-2538756AF954}" destId="{E283C285-D979-5446-A2D6-8F9BED01E924}" srcOrd="4" destOrd="0" presId="urn:microsoft.com/office/officeart/2005/8/layout/vProcess5"/>
    <dgm:cxn modelId="{84A114CE-E51D-DE40-895E-AC18C86D8777}" type="presParOf" srcId="{FE149719-D702-FF40-A21E-2538756AF954}" destId="{773AEA6D-B3F7-7741-A255-97B5CC2FA653}" srcOrd="5" destOrd="0" presId="urn:microsoft.com/office/officeart/2005/8/layout/vProcess5"/>
    <dgm:cxn modelId="{EF91B006-F082-8F46-B727-01B25BA29988}" type="presParOf" srcId="{FE149719-D702-FF40-A21E-2538756AF954}" destId="{1E02806E-03F3-EB45-AA65-56859B5D83A9}" srcOrd="6" destOrd="0" presId="urn:microsoft.com/office/officeart/2005/8/layout/vProcess5"/>
    <dgm:cxn modelId="{79D905B9-B832-8A4A-97BF-42AAEB343484}" type="presParOf" srcId="{FE149719-D702-FF40-A21E-2538756AF954}" destId="{B5AD0177-A1F9-CC45-BC0D-C3685DBE369E}" srcOrd="7" destOrd="0" presId="urn:microsoft.com/office/officeart/2005/8/layout/vProcess5"/>
    <dgm:cxn modelId="{B8707B47-538C-B547-9627-1C4CA48E5517}" type="presParOf" srcId="{FE149719-D702-FF40-A21E-2538756AF954}" destId="{97184F7F-FC67-9348-9518-A39A6EF896B6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CF1276D-1685-45B7-9705-A5F7A658ACF6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D9B900D-01B7-4EDB-8A11-B95DF3581756}">
      <dgm:prSet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Bag-of-Words (</a:t>
          </a:r>
          <a:r>
            <a:rPr lang="en-US" b="1" dirty="0" err="1">
              <a:solidFill>
                <a:schemeClr val="tx1"/>
              </a:solidFill>
            </a:rPr>
            <a:t>CountVectorizer</a:t>
          </a:r>
          <a:r>
            <a:rPr lang="en-US" b="1" dirty="0">
              <a:solidFill>
                <a:schemeClr val="tx1"/>
              </a:solidFill>
            </a:rPr>
            <a:t>)</a:t>
          </a:r>
          <a:r>
            <a:rPr lang="en-US" dirty="0">
              <a:solidFill>
                <a:schemeClr val="tx1"/>
              </a:solidFill>
            </a:rPr>
            <a:t> : Simple </a:t>
          </a:r>
          <a:r>
            <a:rPr lang="en-US" dirty="0" err="1">
              <a:solidFill>
                <a:schemeClr val="tx1"/>
              </a:solidFill>
            </a:rPr>
            <a:t>comptage</a:t>
          </a:r>
          <a:r>
            <a:rPr lang="en-US" dirty="0">
              <a:solidFill>
                <a:schemeClr val="tx1"/>
              </a:solidFill>
            </a:rPr>
            <a:t>, </a:t>
          </a:r>
          <a:r>
            <a:rPr lang="en-US" dirty="0" err="1">
              <a:solidFill>
                <a:schemeClr val="tx1"/>
              </a:solidFill>
            </a:rPr>
            <a:t>mais</a:t>
          </a:r>
          <a:r>
            <a:rPr lang="en-US" dirty="0">
              <a:solidFill>
                <a:schemeClr val="tx1"/>
              </a:solidFill>
            </a:rPr>
            <a:t> ne </a:t>
          </a:r>
          <a:r>
            <a:rPr lang="en-US" dirty="0" err="1">
              <a:solidFill>
                <a:schemeClr val="tx1"/>
              </a:solidFill>
            </a:rPr>
            <a:t>gère</a:t>
          </a:r>
          <a:r>
            <a:rPr lang="en-US" dirty="0">
              <a:solidFill>
                <a:schemeClr val="tx1"/>
              </a:solidFill>
            </a:rPr>
            <a:t> pas </a:t>
          </a:r>
          <a:r>
            <a:rPr lang="en-US" dirty="0" err="1">
              <a:solidFill>
                <a:schemeClr val="tx1"/>
              </a:solidFill>
            </a:rPr>
            <a:t>l’importance</a:t>
          </a:r>
          <a:r>
            <a:rPr lang="en-US" dirty="0">
              <a:solidFill>
                <a:schemeClr val="tx1"/>
              </a:solidFill>
            </a:rPr>
            <a:t> relative.</a:t>
          </a:r>
        </a:p>
      </dgm:t>
    </dgm:pt>
    <dgm:pt modelId="{C3BC8664-5F00-43B6-A3EE-977BD32459CF}" type="parTrans" cxnId="{9F532CCC-E3F5-455A-A051-BF226E225B83}">
      <dgm:prSet/>
      <dgm:spPr/>
      <dgm:t>
        <a:bodyPr/>
        <a:lstStyle/>
        <a:p>
          <a:endParaRPr lang="en-US"/>
        </a:p>
      </dgm:t>
    </dgm:pt>
    <dgm:pt modelId="{FBF529F5-3EDB-44E9-AD1E-A392C3C26B60}" type="sibTrans" cxnId="{9F532CCC-E3F5-455A-A051-BF226E225B83}">
      <dgm:prSet/>
      <dgm:spPr/>
      <dgm:t>
        <a:bodyPr/>
        <a:lstStyle/>
        <a:p>
          <a:endParaRPr lang="en-US"/>
        </a:p>
      </dgm:t>
    </dgm:pt>
    <dgm:pt modelId="{17E20E9B-83FE-4477-993F-9E27419ACBFF}">
      <dgm:prSet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TF-IDF</a:t>
          </a:r>
          <a:r>
            <a:rPr lang="en-US" dirty="0">
              <a:solidFill>
                <a:schemeClr val="tx1"/>
              </a:solidFill>
            </a:rPr>
            <a:t> : </a:t>
          </a:r>
          <a:r>
            <a:rPr lang="en-US" dirty="0" err="1">
              <a:solidFill>
                <a:schemeClr val="tx1"/>
              </a:solidFill>
            </a:rPr>
            <a:t>Pondération</a:t>
          </a:r>
          <a:r>
            <a:rPr lang="en-US" dirty="0">
              <a:solidFill>
                <a:schemeClr val="tx1"/>
              </a:solidFill>
            </a:rPr>
            <a:t> par la </a:t>
          </a:r>
          <a:r>
            <a:rPr lang="en-US" dirty="0" err="1">
              <a:solidFill>
                <a:schemeClr val="tx1"/>
              </a:solidFill>
            </a:rPr>
            <a:t>fréquence</a:t>
          </a:r>
          <a:r>
            <a:rPr lang="en-US" dirty="0">
              <a:solidFill>
                <a:schemeClr val="tx1"/>
              </a:solidFill>
            </a:rPr>
            <a:t> inverse dans le document. Très </a:t>
          </a:r>
          <a:r>
            <a:rPr lang="en-US" dirty="0" err="1">
              <a:solidFill>
                <a:schemeClr val="tx1"/>
              </a:solidFill>
            </a:rPr>
            <a:t>efficace</a:t>
          </a:r>
          <a:r>
            <a:rPr lang="en-US" dirty="0">
              <a:solidFill>
                <a:schemeClr val="tx1"/>
              </a:solidFill>
            </a:rPr>
            <a:t> pour identifier les mots </a:t>
          </a:r>
          <a:r>
            <a:rPr lang="en-US" dirty="0" err="1">
              <a:solidFill>
                <a:schemeClr val="tx1"/>
              </a:solidFill>
            </a:rPr>
            <a:t>clés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spécifiques</a:t>
          </a:r>
          <a:r>
            <a:rPr lang="en-US" dirty="0">
              <a:solidFill>
                <a:schemeClr val="tx1"/>
              </a:solidFill>
            </a:rPr>
            <a:t> à </a:t>
          </a:r>
          <a:r>
            <a:rPr lang="en-US" dirty="0" err="1">
              <a:solidFill>
                <a:schemeClr val="tx1"/>
              </a:solidFill>
            </a:rPr>
            <a:t>une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catégorie</a:t>
          </a:r>
          <a:r>
            <a:rPr lang="en-US" dirty="0">
              <a:solidFill>
                <a:schemeClr val="tx1"/>
              </a:solidFill>
            </a:rPr>
            <a:t> (ex: “processor” pour Computers).</a:t>
          </a:r>
        </a:p>
      </dgm:t>
    </dgm:pt>
    <dgm:pt modelId="{839DDC5A-7024-4C57-BD73-CC26C18C43D3}" type="parTrans" cxnId="{29436313-65E0-4B42-B5F1-6442A5C82178}">
      <dgm:prSet/>
      <dgm:spPr/>
      <dgm:t>
        <a:bodyPr/>
        <a:lstStyle/>
        <a:p>
          <a:endParaRPr lang="en-US"/>
        </a:p>
      </dgm:t>
    </dgm:pt>
    <dgm:pt modelId="{BA7A6CEE-6429-4F79-B69D-27A4439D1EF0}" type="sibTrans" cxnId="{29436313-65E0-4B42-B5F1-6442A5C82178}">
      <dgm:prSet/>
      <dgm:spPr/>
      <dgm:t>
        <a:bodyPr/>
        <a:lstStyle/>
        <a:p>
          <a:endParaRPr lang="en-US"/>
        </a:p>
      </dgm:t>
    </dgm:pt>
    <dgm:pt modelId="{F903D1C6-E3C5-8D40-B52C-34C5D66D95EA}" type="pres">
      <dgm:prSet presAssocID="{3CF1276D-1685-45B7-9705-A5F7A658ACF6}" presName="linear" presStyleCnt="0">
        <dgm:presLayoutVars>
          <dgm:animLvl val="lvl"/>
          <dgm:resizeHandles val="exact"/>
        </dgm:presLayoutVars>
      </dgm:prSet>
      <dgm:spPr/>
    </dgm:pt>
    <dgm:pt modelId="{BEC09E27-046A-F447-9738-133914111B19}" type="pres">
      <dgm:prSet presAssocID="{AD9B900D-01B7-4EDB-8A11-B95DF358175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857069C-DA17-0A44-B53E-F8A27089FAD7}" type="pres">
      <dgm:prSet presAssocID="{FBF529F5-3EDB-44E9-AD1E-A392C3C26B60}" presName="spacer" presStyleCnt="0"/>
      <dgm:spPr/>
    </dgm:pt>
    <dgm:pt modelId="{90D311D4-2B52-6D45-9EB0-2C2AC7239167}" type="pres">
      <dgm:prSet presAssocID="{17E20E9B-83FE-4477-993F-9E27419ACBFF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92112909-ED78-8640-8418-A8F715C5C459}" type="presOf" srcId="{AD9B900D-01B7-4EDB-8A11-B95DF3581756}" destId="{BEC09E27-046A-F447-9738-133914111B19}" srcOrd="0" destOrd="0" presId="urn:microsoft.com/office/officeart/2005/8/layout/vList2"/>
    <dgm:cxn modelId="{29436313-65E0-4B42-B5F1-6442A5C82178}" srcId="{3CF1276D-1685-45B7-9705-A5F7A658ACF6}" destId="{17E20E9B-83FE-4477-993F-9E27419ACBFF}" srcOrd="1" destOrd="0" parTransId="{839DDC5A-7024-4C57-BD73-CC26C18C43D3}" sibTransId="{BA7A6CEE-6429-4F79-B69D-27A4439D1EF0}"/>
    <dgm:cxn modelId="{B55215B2-F52A-0949-8DD5-64FF046644A6}" type="presOf" srcId="{17E20E9B-83FE-4477-993F-9E27419ACBFF}" destId="{90D311D4-2B52-6D45-9EB0-2C2AC7239167}" srcOrd="0" destOrd="0" presId="urn:microsoft.com/office/officeart/2005/8/layout/vList2"/>
    <dgm:cxn modelId="{E82234C8-9A0F-6443-8949-66565AE87A30}" type="presOf" srcId="{3CF1276D-1685-45B7-9705-A5F7A658ACF6}" destId="{F903D1C6-E3C5-8D40-B52C-34C5D66D95EA}" srcOrd="0" destOrd="0" presId="urn:microsoft.com/office/officeart/2005/8/layout/vList2"/>
    <dgm:cxn modelId="{9F532CCC-E3F5-455A-A051-BF226E225B83}" srcId="{3CF1276D-1685-45B7-9705-A5F7A658ACF6}" destId="{AD9B900D-01B7-4EDB-8A11-B95DF3581756}" srcOrd="0" destOrd="0" parTransId="{C3BC8664-5F00-43B6-A3EE-977BD32459CF}" sibTransId="{FBF529F5-3EDB-44E9-AD1E-A392C3C26B60}"/>
    <dgm:cxn modelId="{F36E1BB4-88C9-5040-A4DB-1CA3356E9B3B}" type="presParOf" srcId="{F903D1C6-E3C5-8D40-B52C-34C5D66D95EA}" destId="{BEC09E27-046A-F447-9738-133914111B19}" srcOrd="0" destOrd="0" presId="urn:microsoft.com/office/officeart/2005/8/layout/vList2"/>
    <dgm:cxn modelId="{ADBD1EB8-88E6-874D-8286-9C6176BD5D75}" type="presParOf" srcId="{F903D1C6-E3C5-8D40-B52C-34C5D66D95EA}" destId="{E857069C-DA17-0A44-B53E-F8A27089FAD7}" srcOrd="1" destOrd="0" presId="urn:microsoft.com/office/officeart/2005/8/layout/vList2"/>
    <dgm:cxn modelId="{F9D651C0-80A0-DB4D-8587-0ADA6F2B06F9}" type="presParOf" srcId="{F903D1C6-E3C5-8D40-B52C-34C5D66D95EA}" destId="{90D311D4-2B52-6D45-9EB0-2C2AC7239167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FAB81F-7C76-4509-9283-77A023FFB8AC}">
      <dsp:nvSpPr>
        <dsp:cNvPr id="0" name=""/>
        <dsp:cNvSpPr/>
      </dsp:nvSpPr>
      <dsp:spPr>
        <a:xfrm>
          <a:off x="520435" y="46048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EE5D34-D152-4826-8898-8A0B82AAA914}">
      <dsp:nvSpPr>
        <dsp:cNvPr id="0" name=""/>
        <dsp:cNvSpPr/>
      </dsp:nvSpPr>
      <dsp:spPr>
        <a:xfrm>
          <a:off x="25435" y="1604121"/>
          <a:ext cx="1800000" cy="108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Client</a:t>
          </a:r>
          <a:r>
            <a:rPr lang="en-US" sz="1100" kern="1200"/>
            <a:t> : “Place de marché” (Marketplace style Flipkart).</a:t>
          </a:r>
        </a:p>
      </dsp:txBody>
      <dsp:txXfrm>
        <a:off x="25435" y="1604121"/>
        <a:ext cx="1800000" cy="1080000"/>
      </dsp:txXfrm>
    </dsp:sp>
    <dsp:sp modelId="{A2D9F8A3-5DBA-4810-A75A-9462745ECE2C}">
      <dsp:nvSpPr>
        <dsp:cNvPr id="0" name=""/>
        <dsp:cNvSpPr/>
      </dsp:nvSpPr>
      <dsp:spPr>
        <a:xfrm>
          <a:off x="2635435" y="46048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09F7CB-A393-4C59-BA69-FCA4B336CFD0}">
      <dsp:nvSpPr>
        <dsp:cNvPr id="0" name=""/>
        <dsp:cNvSpPr/>
      </dsp:nvSpPr>
      <dsp:spPr>
        <a:xfrm>
          <a:off x="2140435" y="1604121"/>
          <a:ext cx="1800000" cy="108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Problématique</a:t>
          </a:r>
          <a:r>
            <a:rPr lang="en-US" sz="1100" kern="1200"/>
            <a:t> : L’inventaire grandit, mais la classification reste manuelle.</a:t>
          </a:r>
        </a:p>
      </dsp:txBody>
      <dsp:txXfrm>
        <a:off x="2140435" y="1604121"/>
        <a:ext cx="1800000" cy="1080000"/>
      </dsp:txXfrm>
    </dsp:sp>
    <dsp:sp modelId="{EAE5E9AC-7826-4999-AFD3-2630A7FE1A9E}">
      <dsp:nvSpPr>
        <dsp:cNvPr id="0" name=""/>
        <dsp:cNvSpPr/>
      </dsp:nvSpPr>
      <dsp:spPr>
        <a:xfrm>
          <a:off x="4750435" y="46048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A62FCC-9525-4424-9E5F-DF4803CBC68D}">
      <dsp:nvSpPr>
        <dsp:cNvPr id="0" name=""/>
        <dsp:cNvSpPr/>
      </dsp:nvSpPr>
      <dsp:spPr>
        <a:xfrm>
          <a:off x="4255435" y="1604121"/>
          <a:ext cx="1800000" cy="108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Risques</a:t>
          </a:r>
          <a:r>
            <a:rPr lang="en-US" sz="1100" kern="1200"/>
            <a:t> : Mauvaise indexation, perte de ventes, vendeurs frustrés.</a:t>
          </a:r>
        </a:p>
      </dsp:txBody>
      <dsp:txXfrm>
        <a:off x="4255435" y="1604121"/>
        <a:ext cx="1800000" cy="1080000"/>
      </dsp:txXfrm>
    </dsp:sp>
    <dsp:sp modelId="{C5AC21DA-857E-4BAB-9DEE-05DB5B4F1AD9}">
      <dsp:nvSpPr>
        <dsp:cNvPr id="0" name=""/>
        <dsp:cNvSpPr/>
      </dsp:nvSpPr>
      <dsp:spPr>
        <a:xfrm>
          <a:off x="6865435" y="46048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BE9454-9A41-4F62-A937-44813DF5B389}">
      <dsp:nvSpPr>
        <dsp:cNvPr id="0" name=""/>
        <dsp:cNvSpPr/>
      </dsp:nvSpPr>
      <dsp:spPr>
        <a:xfrm>
          <a:off x="6370435" y="1604121"/>
          <a:ext cx="1800000" cy="108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Objectif technique</a:t>
          </a:r>
          <a:r>
            <a:rPr lang="en-US" sz="1100" kern="1200"/>
            <a:t> : Développer un “Proof of Concept” (POC) pour automatiser la catégorisation par moteur de recommandation ou classification directe.</a:t>
          </a:r>
        </a:p>
      </dsp:txBody>
      <dsp:txXfrm>
        <a:off x="6370435" y="1604121"/>
        <a:ext cx="1800000" cy="108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4826D1-4C42-124B-B089-E8099155E3D3}">
      <dsp:nvSpPr>
        <dsp:cNvPr id="0" name=""/>
        <dsp:cNvSpPr/>
      </dsp:nvSpPr>
      <dsp:spPr>
        <a:xfrm>
          <a:off x="0" y="0"/>
          <a:ext cx="6966490" cy="94338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1050 articles</a:t>
          </a:r>
          <a:r>
            <a:rPr lang="en-US" sz="1800" kern="1200"/>
            <a:t> avec descriptions textuelles et images.</a:t>
          </a:r>
        </a:p>
      </dsp:txBody>
      <dsp:txXfrm>
        <a:off x="27631" y="27631"/>
        <a:ext cx="5948507" cy="888119"/>
      </dsp:txXfrm>
    </dsp:sp>
    <dsp:sp modelId="{0438D4CA-C8AF-344F-964F-BF54CC3BE58C}">
      <dsp:nvSpPr>
        <dsp:cNvPr id="0" name=""/>
        <dsp:cNvSpPr/>
      </dsp:nvSpPr>
      <dsp:spPr>
        <a:xfrm>
          <a:off x="614690" y="1100611"/>
          <a:ext cx="6966490" cy="94338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7 catégories cibles</a:t>
          </a:r>
          <a:r>
            <a:rPr lang="en-US" sz="1800" kern="1200"/>
            <a:t> (150 échantillons par classe) : Équilibre parfait pour éviter les biais de classe majoritaire.</a:t>
          </a:r>
        </a:p>
      </dsp:txBody>
      <dsp:txXfrm>
        <a:off x="642321" y="1128242"/>
        <a:ext cx="5683340" cy="888119"/>
      </dsp:txXfrm>
    </dsp:sp>
    <dsp:sp modelId="{B38B8946-EA36-DE43-AFBC-27F1E3CC7416}">
      <dsp:nvSpPr>
        <dsp:cNvPr id="0" name=""/>
        <dsp:cNvSpPr/>
      </dsp:nvSpPr>
      <dsp:spPr>
        <a:xfrm>
          <a:off x="1229380" y="2201222"/>
          <a:ext cx="6966490" cy="94338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Attributs exploités</a:t>
          </a:r>
          <a:r>
            <a:rPr lang="en-US" sz="1800" kern="1200"/>
            <a:t> : product_name, description, et l’image associée.</a:t>
          </a:r>
        </a:p>
      </dsp:txBody>
      <dsp:txXfrm>
        <a:off x="1257011" y="2228853"/>
        <a:ext cx="5683340" cy="888119"/>
      </dsp:txXfrm>
    </dsp:sp>
    <dsp:sp modelId="{BDF805C3-DFFA-2545-91E8-4CA10543D9CB}">
      <dsp:nvSpPr>
        <dsp:cNvPr id="0" name=""/>
        <dsp:cNvSpPr/>
      </dsp:nvSpPr>
      <dsp:spPr>
        <a:xfrm>
          <a:off x="6353292" y="715397"/>
          <a:ext cx="613197" cy="61319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6491261" y="715397"/>
        <a:ext cx="337259" cy="461431"/>
      </dsp:txXfrm>
    </dsp:sp>
    <dsp:sp modelId="{403AA1F4-E2E7-C742-AF9E-B84F69055BCE}">
      <dsp:nvSpPr>
        <dsp:cNvPr id="0" name=""/>
        <dsp:cNvSpPr/>
      </dsp:nvSpPr>
      <dsp:spPr>
        <a:xfrm>
          <a:off x="6967982" y="1809719"/>
          <a:ext cx="613197" cy="613197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7105951" y="1809719"/>
        <a:ext cx="337259" cy="46143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AC21FB-D560-D241-9B3C-FF2B228B08BB}">
      <dsp:nvSpPr>
        <dsp:cNvPr id="0" name=""/>
        <dsp:cNvSpPr/>
      </dsp:nvSpPr>
      <dsp:spPr>
        <a:xfrm>
          <a:off x="0" y="0"/>
          <a:ext cx="4000099" cy="89989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 err="1">
              <a:solidFill>
                <a:schemeClr val="tx1"/>
              </a:solidFill>
            </a:rPr>
            <a:t>Tokenisation</a:t>
          </a:r>
          <a:r>
            <a:rPr lang="en-US" sz="1300" b="1" kern="1200" dirty="0">
              <a:solidFill>
                <a:schemeClr val="tx1"/>
              </a:solidFill>
            </a:rPr>
            <a:t> &amp; Cleaning</a:t>
          </a:r>
          <a:r>
            <a:rPr lang="en-US" sz="1300" kern="1200" dirty="0">
              <a:solidFill>
                <a:schemeClr val="tx1"/>
              </a:solidFill>
            </a:rPr>
            <a:t> : Suppression des </a:t>
          </a:r>
          <a:r>
            <a:rPr lang="en-US" sz="1300" kern="1200" dirty="0" err="1">
              <a:solidFill>
                <a:schemeClr val="tx1"/>
              </a:solidFill>
            </a:rPr>
            <a:t>balises</a:t>
          </a:r>
          <a:r>
            <a:rPr lang="en-US" sz="1300" kern="1200" dirty="0">
              <a:solidFill>
                <a:schemeClr val="tx1"/>
              </a:solidFill>
            </a:rPr>
            <a:t> HTML, </a:t>
          </a:r>
          <a:r>
            <a:rPr lang="en-US" sz="1300" kern="1200" dirty="0" err="1">
              <a:solidFill>
                <a:schemeClr val="tx1"/>
              </a:solidFill>
            </a:rPr>
            <a:t>ponctuation</a:t>
          </a:r>
          <a:r>
            <a:rPr lang="en-US" sz="1300" kern="1200" dirty="0">
              <a:solidFill>
                <a:schemeClr val="tx1"/>
              </a:solidFill>
            </a:rPr>
            <a:t>, et </a:t>
          </a:r>
          <a:r>
            <a:rPr lang="en-US" sz="1300" kern="1200" dirty="0" err="1">
              <a:solidFill>
                <a:schemeClr val="tx1"/>
              </a:solidFill>
            </a:rPr>
            <a:t>caractères</a:t>
          </a:r>
          <a:r>
            <a:rPr lang="en-US" sz="1300" kern="1200" dirty="0">
              <a:solidFill>
                <a:schemeClr val="tx1"/>
              </a:solidFill>
            </a:rPr>
            <a:t> </a:t>
          </a:r>
          <a:r>
            <a:rPr lang="en-US" sz="1300" kern="1200" dirty="0" err="1">
              <a:solidFill>
                <a:schemeClr val="tx1"/>
              </a:solidFill>
            </a:rPr>
            <a:t>spéciaux</a:t>
          </a:r>
          <a:r>
            <a:rPr lang="en-US" sz="1300" kern="1200" dirty="0">
              <a:solidFill>
                <a:schemeClr val="tx1"/>
              </a:solidFill>
            </a:rPr>
            <a:t>.</a:t>
          </a:r>
        </a:p>
      </dsp:txBody>
      <dsp:txXfrm>
        <a:off x="26357" y="26357"/>
        <a:ext cx="2952999" cy="847182"/>
      </dsp:txXfrm>
    </dsp:sp>
    <dsp:sp modelId="{8AB13E6D-93DB-9140-815A-6AB3FBBADB44}">
      <dsp:nvSpPr>
        <dsp:cNvPr id="0" name=""/>
        <dsp:cNvSpPr/>
      </dsp:nvSpPr>
      <dsp:spPr>
        <a:xfrm>
          <a:off x="335008" y="1063514"/>
          <a:ext cx="4000099" cy="89989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1560507"/>
                <a:satOff val="-1946"/>
                <a:lumOff val="45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560507"/>
                <a:satOff val="-1946"/>
                <a:lumOff val="45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>
              <a:solidFill>
                <a:schemeClr val="tx1"/>
              </a:solidFill>
            </a:rPr>
            <a:t>Stop-words</a:t>
          </a:r>
          <a:r>
            <a:rPr lang="en-US" sz="1300" kern="1200" dirty="0">
              <a:solidFill>
                <a:schemeClr val="tx1"/>
              </a:solidFill>
            </a:rPr>
            <a:t> : </a:t>
          </a:r>
          <a:r>
            <a:rPr lang="en-US" sz="1300" kern="1200" dirty="0" err="1">
              <a:solidFill>
                <a:schemeClr val="tx1"/>
              </a:solidFill>
            </a:rPr>
            <a:t>Utilisation</a:t>
          </a:r>
          <a:r>
            <a:rPr lang="en-US" sz="1300" kern="1200" dirty="0">
              <a:solidFill>
                <a:schemeClr val="tx1"/>
              </a:solidFill>
            </a:rPr>
            <a:t> de la bibliothèque NLTK pour </a:t>
          </a:r>
          <a:r>
            <a:rPr lang="en-US" sz="1300" kern="1200" dirty="0" err="1">
              <a:solidFill>
                <a:schemeClr val="tx1"/>
              </a:solidFill>
            </a:rPr>
            <a:t>filtrer</a:t>
          </a:r>
          <a:r>
            <a:rPr lang="en-US" sz="1300" kern="1200" dirty="0">
              <a:solidFill>
                <a:schemeClr val="tx1"/>
              </a:solidFill>
            </a:rPr>
            <a:t> les mots vides.</a:t>
          </a:r>
        </a:p>
      </dsp:txBody>
      <dsp:txXfrm>
        <a:off x="361365" y="1089871"/>
        <a:ext cx="3027443" cy="847182"/>
      </dsp:txXfrm>
    </dsp:sp>
    <dsp:sp modelId="{9B2DD0C4-42F4-E144-96C1-1ED28D3AE29D}">
      <dsp:nvSpPr>
        <dsp:cNvPr id="0" name=""/>
        <dsp:cNvSpPr/>
      </dsp:nvSpPr>
      <dsp:spPr>
        <a:xfrm>
          <a:off x="665016" y="2127028"/>
          <a:ext cx="4000099" cy="89989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 err="1">
              <a:solidFill>
                <a:schemeClr val="tx1"/>
              </a:solidFill>
            </a:rPr>
            <a:t>Lemmatisation</a:t>
          </a:r>
          <a:r>
            <a:rPr lang="en-US" sz="1300" kern="1200" dirty="0">
              <a:solidFill>
                <a:schemeClr val="tx1"/>
              </a:solidFill>
            </a:rPr>
            <a:t> : Choix de </a:t>
          </a:r>
          <a:r>
            <a:rPr lang="en-US" sz="1300" kern="1200" dirty="0" err="1">
              <a:solidFill>
                <a:schemeClr val="tx1"/>
              </a:solidFill>
            </a:rPr>
            <a:t>réduire</a:t>
          </a:r>
          <a:r>
            <a:rPr lang="en-US" sz="1300" kern="1200" dirty="0">
              <a:solidFill>
                <a:schemeClr val="tx1"/>
              </a:solidFill>
            </a:rPr>
            <a:t> les mots à </a:t>
          </a:r>
          <a:r>
            <a:rPr lang="en-US" sz="1300" kern="1200" dirty="0" err="1">
              <a:solidFill>
                <a:schemeClr val="tx1"/>
              </a:solidFill>
            </a:rPr>
            <a:t>leur</a:t>
          </a:r>
          <a:r>
            <a:rPr lang="en-US" sz="1300" kern="1200" dirty="0">
              <a:solidFill>
                <a:schemeClr val="tx1"/>
              </a:solidFill>
            </a:rPr>
            <a:t> </a:t>
          </a:r>
          <a:r>
            <a:rPr lang="en-US" sz="1300" kern="1200" dirty="0" err="1">
              <a:solidFill>
                <a:schemeClr val="tx1"/>
              </a:solidFill>
            </a:rPr>
            <a:t>racine</a:t>
          </a:r>
          <a:r>
            <a:rPr lang="en-US" sz="1300" kern="1200" dirty="0">
              <a:solidFill>
                <a:schemeClr val="tx1"/>
              </a:solidFill>
            </a:rPr>
            <a:t> </a:t>
          </a:r>
          <a:r>
            <a:rPr lang="en-US" sz="1300" kern="1200" dirty="0" err="1">
              <a:solidFill>
                <a:schemeClr val="tx1"/>
              </a:solidFill>
            </a:rPr>
            <a:t>sémantique</a:t>
          </a:r>
          <a:r>
            <a:rPr lang="en-US" sz="1300" kern="1200" dirty="0">
              <a:solidFill>
                <a:schemeClr val="tx1"/>
              </a:solidFill>
            </a:rPr>
            <a:t> (ex: “running” -&gt; “run”) </a:t>
          </a:r>
          <a:r>
            <a:rPr lang="en-US" sz="1300" kern="1200" dirty="0" err="1">
              <a:solidFill>
                <a:schemeClr val="tx1"/>
              </a:solidFill>
            </a:rPr>
            <a:t>plutôt</a:t>
          </a:r>
          <a:r>
            <a:rPr lang="en-US" sz="1300" kern="1200" dirty="0">
              <a:solidFill>
                <a:schemeClr val="tx1"/>
              </a:solidFill>
            </a:rPr>
            <a:t> </a:t>
          </a:r>
          <a:r>
            <a:rPr lang="en-US" sz="1300" kern="1200" dirty="0" err="1">
              <a:solidFill>
                <a:schemeClr val="tx1"/>
              </a:solidFill>
            </a:rPr>
            <a:t>que</a:t>
          </a:r>
          <a:r>
            <a:rPr lang="en-US" sz="1300" kern="1200" dirty="0">
              <a:solidFill>
                <a:schemeClr val="tx1"/>
              </a:solidFill>
            </a:rPr>
            <a:t> le simple “stemming” trop brutal.</a:t>
          </a:r>
        </a:p>
      </dsp:txBody>
      <dsp:txXfrm>
        <a:off x="691373" y="2153385"/>
        <a:ext cx="3032444" cy="847182"/>
      </dsp:txXfrm>
    </dsp:sp>
    <dsp:sp modelId="{4D4DBAEB-3A85-F647-88C0-7156D0A62DCD}">
      <dsp:nvSpPr>
        <dsp:cNvPr id="0" name=""/>
        <dsp:cNvSpPr/>
      </dsp:nvSpPr>
      <dsp:spPr>
        <a:xfrm>
          <a:off x="1000024" y="3190543"/>
          <a:ext cx="4000099" cy="89989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4681520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20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>
              <a:solidFill>
                <a:schemeClr val="tx1"/>
              </a:solidFill>
            </a:rPr>
            <a:t>Objectif</a:t>
          </a:r>
          <a:r>
            <a:rPr lang="en-US" sz="1300" kern="1200" dirty="0">
              <a:solidFill>
                <a:schemeClr val="tx1"/>
              </a:solidFill>
            </a:rPr>
            <a:t> : Réduire la taille du </a:t>
          </a:r>
          <a:r>
            <a:rPr lang="en-US" sz="1300" kern="1200" dirty="0" err="1">
              <a:solidFill>
                <a:schemeClr val="tx1"/>
              </a:solidFill>
            </a:rPr>
            <a:t>vocabulaire</a:t>
          </a:r>
          <a:r>
            <a:rPr lang="en-US" sz="1300" kern="1200" dirty="0">
              <a:solidFill>
                <a:schemeClr val="tx1"/>
              </a:solidFill>
            </a:rPr>
            <a:t> tout </a:t>
          </a:r>
          <a:r>
            <a:rPr lang="en-US" sz="1300" kern="1200" dirty="0" err="1">
              <a:solidFill>
                <a:schemeClr val="tx1"/>
              </a:solidFill>
            </a:rPr>
            <a:t>en</a:t>
          </a:r>
          <a:r>
            <a:rPr lang="en-US" sz="1300" kern="1200" dirty="0">
              <a:solidFill>
                <a:schemeClr val="tx1"/>
              </a:solidFill>
            </a:rPr>
            <a:t> gardant le </a:t>
          </a:r>
          <a:r>
            <a:rPr lang="en-US" sz="1300" kern="1200" dirty="0" err="1">
              <a:solidFill>
                <a:schemeClr val="tx1"/>
              </a:solidFill>
            </a:rPr>
            <a:t>sens.</a:t>
          </a:r>
          <a:endParaRPr lang="en-US" sz="1300" kern="1200" dirty="0">
            <a:solidFill>
              <a:schemeClr val="tx1"/>
            </a:solidFill>
          </a:endParaRPr>
        </a:p>
      </dsp:txBody>
      <dsp:txXfrm>
        <a:off x="1026381" y="3216900"/>
        <a:ext cx="3027443" cy="847182"/>
      </dsp:txXfrm>
    </dsp:sp>
    <dsp:sp modelId="{B10F77E6-4C77-C741-9AB7-0271A340C768}">
      <dsp:nvSpPr>
        <dsp:cNvPr id="0" name=""/>
        <dsp:cNvSpPr/>
      </dsp:nvSpPr>
      <dsp:spPr>
        <a:xfrm>
          <a:off x="3415166" y="689239"/>
          <a:ext cx="584932" cy="58493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3546776" y="689239"/>
        <a:ext cx="321712" cy="440161"/>
      </dsp:txXfrm>
    </dsp:sp>
    <dsp:sp modelId="{AE7F2909-368A-1A4D-99F5-3B8BFA0C54D6}">
      <dsp:nvSpPr>
        <dsp:cNvPr id="0" name=""/>
        <dsp:cNvSpPr/>
      </dsp:nvSpPr>
      <dsp:spPr>
        <a:xfrm>
          <a:off x="3750174" y="1752753"/>
          <a:ext cx="584932" cy="58493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512910"/>
            <a:satOff val="-2189"/>
            <a:lumOff val="-3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3881784" y="1752753"/>
        <a:ext cx="321712" cy="440161"/>
      </dsp:txXfrm>
    </dsp:sp>
    <dsp:sp modelId="{EBC3AE2F-6446-8E42-8EA9-411751307C63}">
      <dsp:nvSpPr>
        <dsp:cNvPr id="0" name=""/>
        <dsp:cNvSpPr/>
      </dsp:nvSpPr>
      <dsp:spPr>
        <a:xfrm>
          <a:off x="4080182" y="2816267"/>
          <a:ext cx="584932" cy="58493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4211792" y="2816267"/>
        <a:ext cx="321712" cy="44016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1ABD19-F8E4-DC45-8D48-2381DEC7C66F}">
      <dsp:nvSpPr>
        <dsp:cNvPr id="0" name=""/>
        <dsp:cNvSpPr/>
      </dsp:nvSpPr>
      <dsp:spPr>
        <a:xfrm>
          <a:off x="0" y="0"/>
          <a:ext cx="6966490" cy="94338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Redimensionnement</a:t>
          </a:r>
          <a:r>
            <a:rPr lang="en-US" sz="1900" kern="1200"/>
            <a:t> : Passage en 224x224 pixels (format standard pour VGG16).</a:t>
          </a:r>
        </a:p>
      </dsp:txBody>
      <dsp:txXfrm>
        <a:off x="27631" y="27631"/>
        <a:ext cx="5948507" cy="888119"/>
      </dsp:txXfrm>
    </dsp:sp>
    <dsp:sp modelId="{C4151919-AC14-E14E-8485-3C6EE272C30A}">
      <dsp:nvSpPr>
        <dsp:cNvPr id="0" name=""/>
        <dsp:cNvSpPr/>
      </dsp:nvSpPr>
      <dsp:spPr>
        <a:xfrm>
          <a:off x="614690" y="1100611"/>
          <a:ext cx="6966490" cy="94338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Normalisation</a:t>
          </a:r>
          <a:r>
            <a:rPr lang="en-US" sz="1900" kern="1200"/>
            <a:t> : Mise à l’échelle des intensités de pixels (0-1 ou -1 à 1) pour stabiliser la descente de gradient.</a:t>
          </a:r>
        </a:p>
      </dsp:txBody>
      <dsp:txXfrm>
        <a:off x="642321" y="1128242"/>
        <a:ext cx="5683340" cy="888119"/>
      </dsp:txXfrm>
    </dsp:sp>
    <dsp:sp modelId="{BC9AE495-5BF8-ED40-8CD7-0684FF1EDBE2}">
      <dsp:nvSpPr>
        <dsp:cNvPr id="0" name=""/>
        <dsp:cNvSpPr/>
      </dsp:nvSpPr>
      <dsp:spPr>
        <a:xfrm>
          <a:off x="1229380" y="2201222"/>
          <a:ext cx="6966490" cy="94338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Filtrage</a:t>
          </a:r>
          <a:r>
            <a:rPr lang="en-US" sz="1900" kern="1200"/>
            <a:t> : Application facultative de flou gaussien pour réduire le bruit sur certains visuels.</a:t>
          </a:r>
        </a:p>
      </dsp:txBody>
      <dsp:txXfrm>
        <a:off x="1257011" y="2228853"/>
        <a:ext cx="5683340" cy="888119"/>
      </dsp:txXfrm>
    </dsp:sp>
    <dsp:sp modelId="{E283C285-D979-5446-A2D6-8F9BED01E924}">
      <dsp:nvSpPr>
        <dsp:cNvPr id="0" name=""/>
        <dsp:cNvSpPr/>
      </dsp:nvSpPr>
      <dsp:spPr>
        <a:xfrm>
          <a:off x="6353292" y="715397"/>
          <a:ext cx="613197" cy="61319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6491261" y="715397"/>
        <a:ext cx="337259" cy="461431"/>
      </dsp:txXfrm>
    </dsp:sp>
    <dsp:sp modelId="{773AEA6D-B3F7-7741-A255-97B5CC2FA653}">
      <dsp:nvSpPr>
        <dsp:cNvPr id="0" name=""/>
        <dsp:cNvSpPr/>
      </dsp:nvSpPr>
      <dsp:spPr>
        <a:xfrm>
          <a:off x="6967982" y="1809719"/>
          <a:ext cx="613197" cy="613197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7105951" y="1809719"/>
        <a:ext cx="337259" cy="46143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C09E27-046A-F447-9738-133914111B19}">
      <dsp:nvSpPr>
        <dsp:cNvPr id="0" name=""/>
        <dsp:cNvSpPr/>
      </dsp:nvSpPr>
      <dsp:spPr>
        <a:xfrm>
          <a:off x="0" y="35896"/>
          <a:ext cx="5000124" cy="1976203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solidFill>
                <a:schemeClr val="tx1"/>
              </a:solidFill>
            </a:rPr>
            <a:t>Bag-of-Words (</a:t>
          </a:r>
          <a:r>
            <a:rPr lang="en-US" sz="2300" b="1" kern="1200" dirty="0" err="1">
              <a:solidFill>
                <a:schemeClr val="tx1"/>
              </a:solidFill>
            </a:rPr>
            <a:t>CountVectorizer</a:t>
          </a:r>
          <a:r>
            <a:rPr lang="en-US" sz="2300" b="1" kern="1200" dirty="0">
              <a:solidFill>
                <a:schemeClr val="tx1"/>
              </a:solidFill>
            </a:rPr>
            <a:t>)</a:t>
          </a:r>
          <a:r>
            <a:rPr lang="en-US" sz="2300" kern="1200" dirty="0">
              <a:solidFill>
                <a:schemeClr val="tx1"/>
              </a:solidFill>
            </a:rPr>
            <a:t> : Simple </a:t>
          </a:r>
          <a:r>
            <a:rPr lang="en-US" sz="2300" kern="1200" dirty="0" err="1">
              <a:solidFill>
                <a:schemeClr val="tx1"/>
              </a:solidFill>
            </a:rPr>
            <a:t>comptage</a:t>
          </a:r>
          <a:r>
            <a:rPr lang="en-US" sz="2300" kern="1200" dirty="0">
              <a:solidFill>
                <a:schemeClr val="tx1"/>
              </a:solidFill>
            </a:rPr>
            <a:t>, </a:t>
          </a:r>
          <a:r>
            <a:rPr lang="en-US" sz="2300" kern="1200" dirty="0" err="1">
              <a:solidFill>
                <a:schemeClr val="tx1"/>
              </a:solidFill>
            </a:rPr>
            <a:t>mais</a:t>
          </a:r>
          <a:r>
            <a:rPr lang="en-US" sz="2300" kern="1200" dirty="0">
              <a:solidFill>
                <a:schemeClr val="tx1"/>
              </a:solidFill>
            </a:rPr>
            <a:t> ne </a:t>
          </a:r>
          <a:r>
            <a:rPr lang="en-US" sz="2300" kern="1200" dirty="0" err="1">
              <a:solidFill>
                <a:schemeClr val="tx1"/>
              </a:solidFill>
            </a:rPr>
            <a:t>gère</a:t>
          </a:r>
          <a:r>
            <a:rPr lang="en-US" sz="2300" kern="1200" dirty="0">
              <a:solidFill>
                <a:schemeClr val="tx1"/>
              </a:solidFill>
            </a:rPr>
            <a:t> pas </a:t>
          </a:r>
          <a:r>
            <a:rPr lang="en-US" sz="2300" kern="1200" dirty="0" err="1">
              <a:solidFill>
                <a:schemeClr val="tx1"/>
              </a:solidFill>
            </a:rPr>
            <a:t>l’importance</a:t>
          </a:r>
          <a:r>
            <a:rPr lang="en-US" sz="2300" kern="1200" dirty="0">
              <a:solidFill>
                <a:schemeClr val="tx1"/>
              </a:solidFill>
            </a:rPr>
            <a:t> relative.</a:t>
          </a:r>
        </a:p>
      </dsp:txBody>
      <dsp:txXfrm>
        <a:off x="96470" y="132366"/>
        <a:ext cx="4807184" cy="1783263"/>
      </dsp:txXfrm>
    </dsp:sp>
    <dsp:sp modelId="{90D311D4-2B52-6D45-9EB0-2C2AC7239167}">
      <dsp:nvSpPr>
        <dsp:cNvPr id="0" name=""/>
        <dsp:cNvSpPr/>
      </dsp:nvSpPr>
      <dsp:spPr>
        <a:xfrm>
          <a:off x="0" y="2078340"/>
          <a:ext cx="5000124" cy="1976203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solidFill>
                <a:schemeClr val="tx1"/>
              </a:solidFill>
            </a:rPr>
            <a:t>TF-IDF</a:t>
          </a:r>
          <a:r>
            <a:rPr lang="en-US" sz="2300" kern="1200" dirty="0">
              <a:solidFill>
                <a:schemeClr val="tx1"/>
              </a:solidFill>
            </a:rPr>
            <a:t> : </a:t>
          </a:r>
          <a:r>
            <a:rPr lang="en-US" sz="2300" kern="1200" dirty="0" err="1">
              <a:solidFill>
                <a:schemeClr val="tx1"/>
              </a:solidFill>
            </a:rPr>
            <a:t>Pondération</a:t>
          </a:r>
          <a:r>
            <a:rPr lang="en-US" sz="2300" kern="1200" dirty="0">
              <a:solidFill>
                <a:schemeClr val="tx1"/>
              </a:solidFill>
            </a:rPr>
            <a:t> par la </a:t>
          </a:r>
          <a:r>
            <a:rPr lang="en-US" sz="2300" kern="1200" dirty="0" err="1">
              <a:solidFill>
                <a:schemeClr val="tx1"/>
              </a:solidFill>
            </a:rPr>
            <a:t>fréquence</a:t>
          </a:r>
          <a:r>
            <a:rPr lang="en-US" sz="2300" kern="1200" dirty="0">
              <a:solidFill>
                <a:schemeClr val="tx1"/>
              </a:solidFill>
            </a:rPr>
            <a:t> inverse dans le document. Très </a:t>
          </a:r>
          <a:r>
            <a:rPr lang="en-US" sz="2300" kern="1200" dirty="0" err="1">
              <a:solidFill>
                <a:schemeClr val="tx1"/>
              </a:solidFill>
            </a:rPr>
            <a:t>efficace</a:t>
          </a:r>
          <a:r>
            <a:rPr lang="en-US" sz="2300" kern="1200" dirty="0">
              <a:solidFill>
                <a:schemeClr val="tx1"/>
              </a:solidFill>
            </a:rPr>
            <a:t> pour identifier les mots </a:t>
          </a:r>
          <a:r>
            <a:rPr lang="en-US" sz="2300" kern="1200" dirty="0" err="1">
              <a:solidFill>
                <a:schemeClr val="tx1"/>
              </a:solidFill>
            </a:rPr>
            <a:t>clés</a:t>
          </a:r>
          <a:r>
            <a:rPr lang="en-US" sz="2300" kern="1200" dirty="0">
              <a:solidFill>
                <a:schemeClr val="tx1"/>
              </a:solidFill>
            </a:rPr>
            <a:t> </a:t>
          </a:r>
          <a:r>
            <a:rPr lang="en-US" sz="2300" kern="1200" dirty="0" err="1">
              <a:solidFill>
                <a:schemeClr val="tx1"/>
              </a:solidFill>
            </a:rPr>
            <a:t>spécifiques</a:t>
          </a:r>
          <a:r>
            <a:rPr lang="en-US" sz="2300" kern="1200" dirty="0">
              <a:solidFill>
                <a:schemeClr val="tx1"/>
              </a:solidFill>
            </a:rPr>
            <a:t> à </a:t>
          </a:r>
          <a:r>
            <a:rPr lang="en-US" sz="2300" kern="1200" dirty="0" err="1">
              <a:solidFill>
                <a:schemeClr val="tx1"/>
              </a:solidFill>
            </a:rPr>
            <a:t>une</a:t>
          </a:r>
          <a:r>
            <a:rPr lang="en-US" sz="2300" kern="1200" dirty="0">
              <a:solidFill>
                <a:schemeClr val="tx1"/>
              </a:solidFill>
            </a:rPr>
            <a:t> </a:t>
          </a:r>
          <a:r>
            <a:rPr lang="en-US" sz="2300" kern="1200" dirty="0" err="1">
              <a:solidFill>
                <a:schemeClr val="tx1"/>
              </a:solidFill>
            </a:rPr>
            <a:t>catégorie</a:t>
          </a:r>
          <a:r>
            <a:rPr lang="en-US" sz="2300" kern="1200" dirty="0">
              <a:solidFill>
                <a:schemeClr val="tx1"/>
              </a:solidFill>
            </a:rPr>
            <a:t> (ex: “processor” pour Computers).</a:t>
          </a:r>
        </a:p>
      </dsp:txBody>
      <dsp:txXfrm>
        <a:off x="96470" y="2174810"/>
        <a:ext cx="4807184" cy="17832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20"/>
            <a:ext cx="9144000" cy="5143499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41640" y="-1290"/>
            <a:ext cx="8812530" cy="5130513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4540" y="-968"/>
            <a:ext cx="2706134" cy="514414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4544796" y="584453"/>
            <a:ext cx="3725650" cy="3741293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0148" y="614238"/>
            <a:ext cx="4947184" cy="2451390"/>
          </a:xfrm>
        </p:spPr>
        <p:txBody>
          <a:bodyPr>
            <a:normAutofit/>
          </a:bodyPr>
          <a:lstStyle/>
          <a:p>
            <a:pPr algn="r"/>
            <a:r>
              <a:rPr lang="fr-FR" sz="3600" b="1">
                <a:solidFill>
                  <a:srgbClr val="FFFFFF"/>
                </a:solidFill>
              </a:rPr>
              <a:t>Classifiez automatiquement des biens de consommation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735" y="3360028"/>
            <a:ext cx="9134528" cy="17834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8905" y="3597891"/>
            <a:ext cx="4538427" cy="931371"/>
          </a:xfrm>
        </p:spPr>
        <p:txBody>
          <a:bodyPr>
            <a:normAutofit/>
          </a:bodyPr>
          <a:lstStyle/>
          <a:p>
            <a:pPr marL="0" lvl="0" indent="0" algn="r">
              <a:buNone/>
            </a:pPr>
            <a:r>
              <a:rPr lang="fr-FR">
                <a:solidFill>
                  <a:srgbClr val="FFFFFF"/>
                </a:solidFill>
              </a:rPr>
              <a:t>Projet 6 - Parcours Data Scientist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225314" y="1224495"/>
            <a:ext cx="5143179" cy="269419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27698" y="4841748"/>
            <a:ext cx="2057400" cy="273843"/>
          </a:xfrm>
        </p:spPr>
        <p:txBody>
          <a:bodyPr>
            <a:normAutofit/>
          </a:bodyPr>
          <a:lstStyle/>
          <a:p>
            <a:pPr marL="0" lvl="0" indent="0" algn="r">
              <a:spcAft>
                <a:spcPts val="600"/>
              </a:spcAft>
              <a:buNone/>
            </a:pPr>
            <a:r>
              <a:rPr lang="fr-FR" sz="800">
                <a:solidFill>
                  <a:srgbClr val="FFFFFF"/>
                </a:solidFill>
              </a:rPr>
              <a:t>[Votre Nom] -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17019"/>
            <a:ext cx="9143998" cy="3280596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31539" y="-2948881"/>
            <a:ext cx="3280918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02522" y="-2777901"/>
            <a:ext cx="3280596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17017"/>
            <a:ext cx="6406863" cy="3280594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774039"/>
            <a:ext cx="3742610" cy="3329347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551329"/>
            <a:ext cx="7540322" cy="219635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lvl="0" indent="0" defTabSz="914400">
              <a:lnSpc>
                <a:spcPct val="90000"/>
              </a:lnSpc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1. Introduction &amp; Enjeux Business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fr-FR" sz="3000">
                <a:solidFill>
                  <a:srgbClr val="FFFFFF"/>
                </a:solidFill>
              </a:rPr>
              <a:t>Contexte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AE239C4-A96B-9581-687A-F4D8881CE4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38528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17019"/>
            <a:ext cx="9143998" cy="3280596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31539" y="-2948881"/>
            <a:ext cx="3280918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02522" y="-2777901"/>
            <a:ext cx="3280596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17017"/>
            <a:ext cx="6406863" cy="3280594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774039"/>
            <a:ext cx="3742610" cy="3329347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551329"/>
            <a:ext cx="7540322" cy="219635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lvl="0" indent="0" defTabSz="914400">
              <a:lnSpc>
                <a:spcPct val="90000"/>
              </a:lnSpc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2. Le Jeu de Données (Exploration)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fr-FR" sz="3000">
                <a:solidFill>
                  <a:srgbClr val="FFFFFF"/>
                </a:solidFill>
              </a:rPr>
              <a:t>Dataset Flipkart</a:t>
            </a: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18B57B50-7BB7-B948-898A-6C4E3BACDE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0830712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17019"/>
            <a:ext cx="9143998" cy="3280596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31539" y="-2948881"/>
            <a:ext cx="3280918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02522" y="-2777901"/>
            <a:ext cx="3280596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17017"/>
            <a:ext cx="6406863" cy="3280594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774039"/>
            <a:ext cx="3742610" cy="3329347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551329"/>
            <a:ext cx="7540322" cy="219635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lvl="0" indent="0" defTabSz="914400">
              <a:lnSpc>
                <a:spcPct val="90000"/>
              </a:lnSpc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3. Pipeline de Prétraitement NLP (Texte)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1" y="1057559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262817"/>
            <a:ext cx="2336449" cy="1797269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fr-FR" sz="3000">
                <a:solidFill>
                  <a:srgbClr val="FFFFFF"/>
                </a:solidFill>
              </a:rPr>
              <a:t>Nettoyage Rigoureux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5765712-77FA-F396-AB31-32C2DC4521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6430881"/>
              </p:ext>
            </p:extLst>
          </p:nvPr>
        </p:nvGraphicFramePr>
        <p:xfrm>
          <a:off x="3678789" y="562830"/>
          <a:ext cx="5000124" cy="4090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17019"/>
            <a:ext cx="9143998" cy="3280596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31539" y="-2948881"/>
            <a:ext cx="3280918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02522" y="-2777901"/>
            <a:ext cx="3280596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17017"/>
            <a:ext cx="6406863" cy="3280594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774039"/>
            <a:ext cx="3742610" cy="3329347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551329"/>
            <a:ext cx="7540322" cy="219635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lvl="0" indent="0" defTabSz="914400">
              <a:lnSpc>
                <a:spcPct val="90000"/>
              </a:lnSpc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4. Prétraitement Vision (Image)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fr-FR" sz="3000">
                <a:solidFill>
                  <a:srgbClr val="FFFFFF"/>
                </a:solidFill>
              </a:rPr>
              <a:t>Standardisation des visuels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D4B52EE-163F-EFB9-F4B8-590A31EDED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0855737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17019"/>
            <a:ext cx="9143998" cy="3280596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31539" y="-2948881"/>
            <a:ext cx="3280918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02522" y="-2777901"/>
            <a:ext cx="3280596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17017"/>
            <a:ext cx="6406863" cy="3280594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774039"/>
            <a:ext cx="3742610" cy="3329347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551329"/>
            <a:ext cx="7540322" cy="219635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lvl="0" indent="0" defTabSz="914400">
              <a:lnSpc>
                <a:spcPct val="90000"/>
              </a:lnSpc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5. Extraction de Features Texte (1/2)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1" y="1057559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262817"/>
            <a:ext cx="2336449" cy="1797269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fr-FR" sz="2800">
                <a:solidFill>
                  <a:srgbClr val="FFFFFF"/>
                </a:solidFill>
              </a:rPr>
              <a:t>Approches Fréquentielles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2AA0A72-966F-AF04-0E86-05DCA27AB8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026696"/>
              </p:ext>
            </p:extLst>
          </p:nvPr>
        </p:nvGraphicFramePr>
        <p:xfrm>
          <a:off x="3678789" y="562830"/>
          <a:ext cx="5000124" cy="4090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17019"/>
            <a:ext cx="9143998" cy="3280596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31539" y="-2948881"/>
            <a:ext cx="3280918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02522" y="-2777901"/>
            <a:ext cx="3280596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17017"/>
            <a:ext cx="6406863" cy="3280594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774039"/>
            <a:ext cx="3742610" cy="3329347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551329"/>
            <a:ext cx="7540322" cy="219635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lvl="0" indent="0" defTabSz="914400">
              <a:lnSpc>
                <a:spcPct val="90000"/>
              </a:lnSpc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6. Extraction de Features Texte (2/2)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440141"/>
            <a:ext cx="2401025" cy="2540623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fr-FR" sz="3000">
                <a:solidFill>
                  <a:srgbClr val="FFFFFF"/>
                </a:solidFill>
              </a:rPr>
              <a:t>Plongements Lexicaux (Embeddings)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487110"/>
            <a:ext cx="4916510" cy="4159535"/>
          </a:xfrm>
        </p:spPr>
        <p:txBody>
          <a:bodyPr anchor="ctr">
            <a:normAutofit/>
          </a:bodyPr>
          <a:lstStyle/>
          <a:p>
            <a:pPr lvl="0"/>
            <a:r>
              <a:rPr lang="fr-FR" sz="1500" b="1"/>
              <a:t>Word2Vec</a:t>
            </a:r>
            <a:r>
              <a:rPr lang="fr-FR" sz="1500"/>
              <a:t> : Capture des relations de voisinage.</a:t>
            </a:r>
          </a:p>
          <a:p>
            <a:pPr lvl="0"/>
            <a:r>
              <a:rPr lang="fr-FR" sz="1500" b="1"/>
              <a:t>BERT</a:t>
            </a:r>
            <a:r>
              <a:rPr lang="fr-FR" sz="1500"/>
              <a:t> : Analyse contextuelle bidirectionnelle (Transformers).</a:t>
            </a:r>
          </a:p>
          <a:p>
            <a:pPr lvl="0"/>
            <a:r>
              <a:rPr lang="fr-FR" sz="1500" b="1"/>
              <a:t>Universal Sentence Encoder (USE)</a:t>
            </a:r>
            <a:r>
              <a:rPr lang="fr-FR" sz="1500"/>
              <a:t> : Encodage direct au niveau de la phrase.</a:t>
            </a:r>
          </a:p>
          <a:p>
            <a:pPr lvl="0"/>
            <a:r>
              <a:rPr lang="fr-FR" sz="1500" b="1"/>
              <a:t>Analyse</a:t>
            </a:r>
            <a:r>
              <a:rPr lang="fr-FR" sz="1500"/>
              <a:t> : Les embeddings permettent de comprendre que “PC” et “Laptop” sont proches, ce que TF-IDF ne fait pas.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17019"/>
            <a:ext cx="9143998" cy="3280596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31539" y="-2948881"/>
            <a:ext cx="3280918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02522" y="-2777901"/>
            <a:ext cx="3280596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17017"/>
            <a:ext cx="6406863" cy="3280594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774039"/>
            <a:ext cx="3742610" cy="3329347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551329"/>
            <a:ext cx="7540322" cy="219635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lvl="0" indent="0" defTabSz="914400">
              <a:lnSpc>
                <a:spcPct val="90000"/>
              </a:lnSpc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7. Extraction de Features Image : Approche Classique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440141"/>
            <a:ext cx="2401025" cy="2540623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fr-FR" sz="3000">
                <a:solidFill>
                  <a:srgbClr val="FFFFFF"/>
                </a:solidFill>
              </a:rPr>
              <a:t>SIFT &amp; Bag of Visual 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487110"/>
            <a:ext cx="4916510" cy="4159535"/>
          </a:xfrm>
        </p:spPr>
        <p:txBody>
          <a:bodyPr anchor="ctr">
            <a:normAutofit/>
          </a:bodyPr>
          <a:lstStyle/>
          <a:p>
            <a:pPr lvl="0"/>
            <a:r>
              <a:rPr lang="fr-FR" sz="1500" b="1"/>
              <a:t>SIFT (Scale-Invariant Feature Transform)</a:t>
            </a:r>
            <a:r>
              <a:rPr lang="fr-FR" sz="1500"/>
              <a:t> : Détection de points d’intérêt robustes aux rotations et changements d’échelle.</a:t>
            </a:r>
          </a:p>
          <a:p>
            <a:pPr lvl="0"/>
            <a:r>
              <a:rPr lang="fr-FR" sz="1500" b="1"/>
              <a:t>Quantification</a:t>
            </a:r>
            <a:r>
              <a:rPr lang="fr-FR" sz="1500"/>
              <a:t> : Création d’un dictionnaire visuel via K-Means sur les descripteurs SIFT.</a:t>
            </a:r>
          </a:p>
          <a:p>
            <a:pPr lvl="0"/>
            <a:r>
              <a:rPr lang="fr-FR" sz="1500" b="1"/>
              <a:t>Histogramme</a:t>
            </a:r>
            <a:r>
              <a:rPr lang="fr-FR" sz="1500"/>
              <a:t> : Chaque image est représentée par la fréquence d’apparition de ces “mots visuels”.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17019"/>
            <a:ext cx="9143998" cy="3280596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31539" y="-2948881"/>
            <a:ext cx="3280918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02522" y="-2777901"/>
            <a:ext cx="3280596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17017"/>
            <a:ext cx="6406863" cy="3280594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774039"/>
            <a:ext cx="3742610" cy="3329347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551329"/>
            <a:ext cx="7540322" cy="219635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lvl="0" indent="0" defTabSz="914400">
              <a:lnSpc>
                <a:spcPct val="90000"/>
              </a:lnSpc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8. Extraction de Features Image : Deep Learning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440141"/>
            <a:ext cx="2401025" cy="2540623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fr-FR" sz="3000">
                <a:solidFill>
                  <a:srgbClr val="FFFFFF"/>
                </a:solidFill>
              </a:rPr>
              <a:t>Transfer Learning avec VGG16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487110"/>
            <a:ext cx="4916510" cy="4159535"/>
          </a:xfrm>
        </p:spPr>
        <p:txBody>
          <a:bodyPr anchor="ctr">
            <a:normAutofit/>
          </a:bodyPr>
          <a:lstStyle/>
          <a:p>
            <a:pPr lvl="0"/>
            <a:r>
              <a:rPr lang="fr-FR" sz="1500" b="1"/>
              <a:t>Architecture</a:t>
            </a:r>
            <a:r>
              <a:rPr lang="fr-FR" sz="1500"/>
              <a:t> : Utilisation d’un modèle pré-entraîné sur 1,2 million d’images (ImageNet).</a:t>
            </a:r>
          </a:p>
          <a:p>
            <a:pPr lvl="0"/>
            <a:r>
              <a:rPr lang="fr-FR" sz="1500" b="1"/>
              <a:t>Feature Extraction</a:t>
            </a:r>
            <a:r>
              <a:rPr lang="fr-FR" sz="1500"/>
              <a:t> : On récupère la sortie de la dernière couche de convolution (avant les couches denses).</a:t>
            </a:r>
          </a:p>
          <a:p>
            <a:pPr lvl="0"/>
            <a:r>
              <a:rPr lang="fr-FR" sz="1500" b="1"/>
              <a:t>Avantage</a:t>
            </a:r>
            <a:r>
              <a:rPr lang="fr-FR" sz="1500"/>
              <a:t> : Le modèle a déjà appris à reconnaître des formes, des textures et des objets complexes.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17019"/>
            <a:ext cx="9143998" cy="3280596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31539" y="-2948881"/>
            <a:ext cx="3280918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02522" y="-2777901"/>
            <a:ext cx="3280596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17017"/>
            <a:ext cx="6406863" cy="3280594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774039"/>
            <a:ext cx="3742610" cy="3329347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551329"/>
            <a:ext cx="7540322" cy="219635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lvl="0" indent="0" defTabSz="914400">
              <a:lnSpc>
                <a:spcPct val="90000"/>
              </a:lnSpc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9. Étude de Faisabilité : Réduction de Dimension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PCA vs t-SNE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rPr b="1"/>
              <a:t>PCA</a:t>
            </a:r>
            <a:r>
              <a:t> : Utilisé pour réduire le bruit initial et conserver la variance.</a:t>
            </a:r>
          </a:p>
          <a:p>
            <a:pPr lvl="0"/>
            <a:r>
              <a:rPr b="1"/>
              <a:t>t-SNE</a:t>
            </a:r>
            <a:r>
              <a:t> : Technique non-linéaire idéale pour la visualisation. Elle préserve les distances locales.</a:t>
            </a:r>
          </a:p>
          <a:p>
            <a:pPr lvl="0"/>
            <a:r>
              <a:rPr b="1"/>
              <a:t>Interprétation</a:t>
            </a:r>
            <a:r>
              <a:t> : Si les points de même couleur se regroupent, la classification est réalisable.</a:t>
            </a:r>
          </a:p>
        </p:txBody>
      </p:sp>
      <p:pic>
        <p:nvPicPr>
          <p:cNvPr id="3" name="Picture 1" descr="presentation_assets/tsne_text_6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76300"/>
            <a:ext cx="5105400" cy="252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>
            <a:spLocks noGrp="1"/>
          </p:cNvSpPr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>
            <a:normAutofit fontScale="70000" lnSpcReduction="20000"/>
          </a:bodyPr>
          <a:lstStyle/>
          <a:p>
            <a:pPr marL="0" lvl="0" indent="0" algn="ctr">
              <a:buNone/>
            </a:pPr>
            <a:r>
              <a:t>Visualisation t-SNE des caractéristiques textuelles (USE)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17019"/>
            <a:ext cx="9143998" cy="3280596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31539" y="-2948881"/>
            <a:ext cx="3280918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02522" y="-2777901"/>
            <a:ext cx="3280596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17017"/>
            <a:ext cx="6406863" cy="3280594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774039"/>
            <a:ext cx="3742610" cy="3329347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551329"/>
            <a:ext cx="7540322" cy="219635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lvl="0" indent="0" defTabSz="914400">
              <a:lnSpc>
                <a:spcPct val="90000"/>
              </a:lnSpc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10. Résultats de Faisabilité : Analyse ARI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Scores de Similarité (Clustering)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rPr b="1"/>
              <a:t>ARI (Adjusted Rand Index)</a:t>
            </a:r>
            <a:r>
              <a:t> :</a:t>
            </a:r>
          </a:p>
          <a:p>
            <a:pPr lvl="1"/>
            <a:r>
              <a:t>Image (VGG16) : </a:t>
            </a:r>
            <a:r>
              <a:rPr b="1"/>
              <a:t>0.69</a:t>
            </a:r>
            <a:r>
              <a:t> (Excellent regroupement).</a:t>
            </a:r>
          </a:p>
          <a:p>
            <a:pPr lvl="1"/>
            <a:r>
              <a:t>Texte (USE) : ~0.45.</a:t>
            </a:r>
          </a:p>
          <a:p>
            <a:pPr lvl="0"/>
            <a:r>
              <a:rPr b="1"/>
              <a:t>Observation</a:t>
            </a:r>
            <a:r>
              <a:t> : L’image via VGG16 est ici plus discriminante que le texte seul pour séparer les 7 catégories.</a:t>
            </a:r>
          </a:p>
        </p:txBody>
      </p:sp>
      <p:pic>
        <p:nvPicPr>
          <p:cNvPr id="3" name="Picture 1" descr="presentation_assets/tsne_image_8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25500"/>
            <a:ext cx="5105400" cy="2628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>
            <a:spLocks noGrp="1"/>
          </p:cNvSpPr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>
            <a:normAutofit fontScale="70000" lnSpcReduction="20000"/>
          </a:bodyPr>
          <a:lstStyle/>
          <a:p>
            <a:pPr marL="0" lvl="0" indent="0" algn="ctr">
              <a:buNone/>
            </a:pPr>
            <a:r>
              <a:t>Visualisation t-SNE des caractéristiques images (VGG16)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17019"/>
            <a:ext cx="9143998" cy="3280596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31539" y="-2948881"/>
            <a:ext cx="3280918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02522" y="-2777901"/>
            <a:ext cx="3280596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17017"/>
            <a:ext cx="6406863" cy="3280594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774039"/>
            <a:ext cx="3742610" cy="3329347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551329"/>
            <a:ext cx="7540322" cy="219635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lvl="0" indent="0" defTabSz="914400">
              <a:lnSpc>
                <a:spcPct val="90000"/>
              </a:lnSpc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11. Classification Supervisée : Modèle CNN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440141"/>
            <a:ext cx="2401025" cy="2540623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fr-FR" sz="3000">
                <a:solidFill>
                  <a:srgbClr val="FFFFFF"/>
                </a:solidFill>
              </a:rPr>
              <a:t>Transfer Learning &amp; Fine-Tuning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487110"/>
            <a:ext cx="4916510" cy="4159535"/>
          </a:xfrm>
        </p:spPr>
        <p:txBody>
          <a:bodyPr anchor="ctr">
            <a:normAutofit/>
          </a:bodyPr>
          <a:lstStyle/>
          <a:p>
            <a:pPr lvl="0"/>
            <a:r>
              <a:rPr lang="fr-FR" sz="1500" b="1"/>
              <a:t>Base</a:t>
            </a:r>
            <a:r>
              <a:rPr lang="fr-FR" sz="1500"/>
              <a:t> : VGG16 “gelé” (poids fixes).</a:t>
            </a:r>
          </a:p>
          <a:p>
            <a:pPr lvl="0"/>
            <a:r>
              <a:rPr lang="fr-FR" sz="1500" b="1"/>
              <a:t>Tête du réseau</a:t>
            </a:r>
            <a:r>
              <a:rPr lang="fr-FR" sz="1500"/>
              <a:t> : Ajout de couches </a:t>
            </a:r>
            <a:r>
              <a:rPr lang="fr-FR" sz="1500">
                <a:latin typeface="Courier"/>
              </a:rPr>
              <a:t>GlobalAveragePooling2D</a:t>
            </a:r>
            <a:r>
              <a:rPr lang="fr-FR" sz="1500"/>
              <a:t> et </a:t>
            </a:r>
            <a:r>
              <a:rPr lang="fr-FR" sz="1500">
                <a:latin typeface="Courier"/>
              </a:rPr>
              <a:t>Dense</a:t>
            </a:r>
            <a:r>
              <a:rPr lang="fr-FR" sz="1500"/>
              <a:t> (256 neurones + Dropout).</a:t>
            </a:r>
          </a:p>
          <a:p>
            <a:pPr lvl="0"/>
            <a:r>
              <a:rPr lang="fr-FR" sz="1500" b="1"/>
              <a:t>Couche de sortie</a:t>
            </a:r>
            <a:r>
              <a:rPr lang="fr-FR" sz="1500"/>
              <a:t> : Softmax avec 7 neurones pour les 7 catégories.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17019"/>
            <a:ext cx="9143998" cy="3280596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31539" y="-2948881"/>
            <a:ext cx="3280918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02522" y="-2777901"/>
            <a:ext cx="3280596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17017"/>
            <a:ext cx="6406863" cy="3280594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774039"/>
            <a:ext cx="3742610" cy="3329347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551329"/>
            <a:ext cx="7540322" cy="219635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lvl="0" indent="0" defTabSz="914400">
              <a:lnSpc>
                <a:spcPct val="90000"/>
              </a:lnSpc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12. Optimisation de l’Entraînement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440141"/>
            <a:ext cx="2401025" cy="2540623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fr-FR" sz="3000">
                <a:solidFill>
                  <a:srgbClr val="FFFFFF"/>
                </a:solidFill>
              </a:rPr>
              <a:t>Stratégies employées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487110"/>
            <a:ext cx="4916510" cy="4159535"/>
          </a:xfrm>
        </p:spPr>
        <p:txBody>
          <a:bodyPr anchor="ctr">
            <a:normAutofit/>
          </a:bodyPr>
          <a:lstStyle/>
          <a:p>
            <a:pPr lvl="0"/>
            <a:r>
              <a:rPr lang="fr-FR" sz="1500" b="1"/>
              <a:t>Data Augmentation</a:t>
            </a:r>
            <a:r>
              <a:rPr lang="fr-FR" sz="1500"/>
              <a:t> : Zoom, rotations et retournements horizontaux pour simuler un dataset plus grand.</a:t>
            </a:r>
          </a:p>
          <a:p>
            <a:pPr lvl="0"/>
            <a:r>
              <a:rPr lang="fr-FR" sz="1500" b="1"/>
              <a:t>Callbacks</a:t>
            </a:r>
            <a:r>
              <a:rPr lang="fr-FR" sz="1500"/>
              <a:t> :</a:t>
            </a:r>
          </a:p>
          <a:p>
            <a:pPr lvl="1"/>
            <a:r>
              <a:rPr lang="fr-FR" sz="1500">
                <a:latin typeface="Courier"/>
              </a:rPr>
              <a:t>EarlyStopping</a:t>
            </a:r>
            <a:r>
              <a:rPr lang="fr-FR" sz="1500"/>
              <a:t> : Arrêt dès que la perte de validation stagne.</a:t>
            </a:r>
          </a:p>
          <a:p>
            <a:pPr lvl="1"/>
            <a:r>
              <a:rPr lang="fr-FR" sz="1500">
                <a:latin typeface="Courier"/>
              </a:rPr>
              <a:t>ReduceLROnPlateau</a:t>
            </a:r>
            <a:r>
              <a:rPr lang="fr-FR" sz="1500"/>
              <a:t> : Ajustement dynamique du taux d’apprentissage.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17019"/>
            <a:ext cx="9143998" cy="3280596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31539" y="-2948881"/>
            <a:ext cx="3280918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02522" y="-2777901"/>
            <a:ext cx="3280596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17017"/>
            <a:ext cx="6406863" cy="3280594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774039"/>
            <a:ext cx="3742610" cy="3329347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551329"/>
            <a:ext cx="7540322" cy="219635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lvl="0" indent="0" defTabSz="914400">
              <a:lnSpc>
                <a:spcPct val="90000"/>
              </a:lnSpc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13. Performances du Modèle Final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Métriques Clés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rPr b="1"/>
              <a:t>Accuracy Test</a:t>
            </a:r>
            <a:r>
              <a:t> : </a:t>
            </a:r>
            <a:r>
              <a:rPr b="1"/>
              <a:t>83.3%</a:t>
            </a:r>
          </a:p>
          <a:p>
            <a:pPr lvl="0"/>
            <a:r>
              <a:rPr b="1"/>
              <a:t>Précision / Recall</a:t>
            </a:r>
            <a:r>
              <a:t> : Analyse par classe.</a:t>
            </a:r>
          </a:p>
          <a:p>
            <a:pPr lvl="0"/>
            <a:r>
              <a:rPr b="1"/>
              <a:t>Points forts</a:t>
            </a:r>
            <a:r>
              <a:t> : Watches (F1: 0.95), Kitchen (F1: 0.86).</a:t>
            </a:r>
          </a:p>
        </p:txBody>
      </p:sp>
      <p:pic>
        <p:nvPicPr>
          <p:cNvPr id="3" name="Picture 1" descr="presentation_assets/supervised_2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37000" y="203200"/>
            <a:ext cx="43688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>
            <a:spLocks noGrp="1"/>
          </p:cNvSpPr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>
            <a:normAutofit fontScale="92500"/>
          </a:bodyPr>
          <a:lstStyle/>
          <a:p>
            <a:pPr marL="0" lvl="0" indent="0" algn="ctr">
              <a:buNone/>
            </a:pPr>
            <a:r>
              <a:t>Courbes d’apprentissage du modèle CNN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17019"/>
            <a:ext cx="9143998" cy="3280596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31539" y="-2948881"/>
            <a:ext cx="3280918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02522" y="-2777901"/>
            <a:ext cx="3280596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17017"/>
            <a:ext cx="6406863" cy="3280594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774039"/>
            <a:ext cx="3742610" cy="3329347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551329"/>
            <a:ext cx="7540322" cy="219635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lvl="0" indent="0" defTabSz="914400">
              <a:lnSpc>
                <a:spcPct val="90000"/>
              </a:lnSpc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14. Analyse de la Matrice de Confusion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Pourquoi ces erreurs 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rPr b="1"/>
              <a:t>Analogie Visuelle</a:t>
            </a:r>
            <a:r>
              <a:t> : Un coussin (Furnishing) ressemble beaucoup à un objet de décoration (Decor).</a:t>
            </a:r>
          </a:p>
          <a:p>
            <a:pPr lvl="0"/>
            <a:r>
              <a:rPr b="1"/>
              <a:t>Limites</a:t>
            </a:r>
            <a:r>
              <a:t> : Le texte ne permet pas toujours de trancher si la description est trop générique.</a:t>
            </a:r>
          </a:p>
        </p:txBody>
      </p:sp>
      <p:pic>
        <p:nvPicPr>
          <p:cNvPr id="3" name="Picture 1" descr="presentation_assets/supervised_3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92200"/>
            <a:ext cx="5105400" cy="2082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>
            <a:spLocks noGrp="1"/>
          </p:cNvSpPr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Matrice de confusion du modèle final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17019"/>
            <a:ext cx="9143998" cy="3280596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31539" y="-2948881"/>
            <a:ext cx="3280918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02522" y="-2777901"/>
            <a:ext cx="3280596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17017"/>
            <a:ext cx="6406863" cy="3280594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774039"/>
            <a:ext cx="3742610" cy="3329347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551329"/>
            <a:ext cx="7540322" cy="219635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lvl="0" indent="0" defTabSz="914400">
              <a:lnSpc>
                <a:spcPct val="90000"/>
              </a:lnSpc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15. Collecte de Données via API (Phase 3)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440141"/>
            <a:ext cx="2401025" cy="2540623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fr-FR" sz="3000">
                <a:solidFill>
                  <a:srgbClr val="FFFFFF"/>
                </a:solidFill>
              </a:rPr>
              <a:t>Intégration OpenFood 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487110"/>
            <a:ext cx="4916510" cy="4159535"/>
          </a:xfrm>
        </p:spPr>
        <p:txBody>
          <a:bodyPr anchor="ctr">
            <a:normAutofit/>
          </a:bodyPr>
          <a:lstStyle/>
          <a:p>
            <a:pPr lvl="0"/>
            <a:r>
              <a:rPr lang="fr-FR" sz="1500" b="1"/>
              <a:t>Script Python</a:t>
            </a:r>
            <a:r>
              <a:rPr lang="fr-FR" sz="1500"/>
              <a:t> : Utilisation du module </a:t>
            </a:r>
            <a:r>
              <a:rPr lang="fr-FR" sz="1500">
                <a:latin typeface="Courier"/>
              </a:rPr>
              <a:t>requests</a:t>
            </a:r>
            <a:r>
              <a:rPr lang="fr-FR" sz="1500"/>
              <a:t>.</a:t>
            </a:r>
          </a:p>
          <a:p>
            <a:pPr lvl="0"/>
            <a:r>
              <a:rPr lang="fr-FR" sz="1500" b="1"/>
              <a:t>Traitement</a:t>
            </a:r>
            <a:r>
              <a:rPr lang="fr-FR" sz="1500"/>
              <a:t> : Filtrage des produits pour n’extraire que les 10 meilleurs résultats pour “Champagne”.</a:t>
            </a:r>
          </a:p>
          <a:p>
            <a:pPr lvl="0"/>
            <a:r>
              <a:rPr lang="fr-FR" sz="1500" b="1"/>
              <a:t>Données</a:t>
            </a:r>
            <a:r>
              <a:rPr lang="fr-FR" sz="1500"/>
              <a:t> : Récupération des ingrédients pour enrichir les métadonnées textuelles.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17019"/>
            <a:ext cx="9143998" cy="3280596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31539" y="-2948881"/>
            <a:ext cx="3280918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02522" y="-2777901"/>
            <a:ext cx="3280596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17017"/>
            <a:ext cx="6406863" cy="3280594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774039"/>
            <a:ext cx="3742610" cy="3329347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551329"/>
            <a:ext cx="7540322" cy="219635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lvl="0" indent="0" defTabSz="914400">
              <a:lnSpc>
                <a:spcPct val="90000"/>
              </a:lnSpc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16. Conclusion et Perspectives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440141"/>
            <a:ext cx="2401025" cy="2540623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fr-FR" sz="3000">
                <a:solidFill>
                  <a:srgbClr val="FFFFFF"/>
                </a:solidFill>
              </a:rPr>
              <a:t>Bilan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487110"/>
            <a:ext cx="4916510" cy="4159535"/>
          </a:xfrm>
        </p:spPr>
        <p:txBody>
          <a:bodyPr anchor="ctr">
            <a:normAutofit/>
          </a:bodyPr>
          <a:lstStyle/>
          <a:p>
            <a:pPr lvl="0"/>
            <a:r>
              <a:rPr lang="fr-FR" sz="1500"/>
              <a:t>Étude de faisabilité validée mathématiquement (ARI).</a:t>
            </a:r>
          </a:p>
          <a:p>
            <a:pPr lvl="0"/>
            <a:r>
              <a:rPr lang="fr-FR" sz="1500"/>
              <a:t>Modèle supervisé performant (83% acc).</a:t>
            </a:r>
          </a:p>
          <a:p>
            <a:pPr lvl="0"/>
            <a:r>
              <a:rPr lang="fr-FR" sz="1500"/>
              <a:t>Pipeline API opérationnel.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440141"/>
            <a:ext cx="2401025" cy="2540623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fr-FR" sz="3000">
                <a:solidFill>
                  <a:srgbClr val="FFFFFF"/>
                </a:solidFill>
              </a:rPr>
              <a:t>Futur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487110"/>
            <a:ext cx="4916510" cy="4159535"/>
          </a:xfrm>
        </p:spPr>
        <p:txBody>
          <a:bodyPr anchor="ctr">
            <a:normAutofit/>
          </a:bodyPr>
          <a:lstStyle/>
          <a:p>
            <a:pPr lvl="0"/>
            <a:r>
              <a:rPr lang="fr-FR" sz="1500"/>
              <a:t>Déploiement dans un conteneur Docker.</a:t>
            </a:r>
          </a:p>
          <a:p>
            <a:pPr lvl="0"/>
            <a:r>
              <a:rPr lang="fr-FR" sz="1500"/>
              <a:t>Test de modèles plus légers (MobileNet) pour une utilisation mobile.</a:t>
            </a:r>
          </a:p>
          <a:p>
            <a:pPr lvl="0"/>
            <a:r>
              <a:rPr lang="fr-FR" sz="1500"/>
              <a:t>Amélioration du nettoyage texte (Correction orthographique).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17019"/>
            <a:ext cx="9143998" cy="3280596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31539" y="-2948881"/>
            <a:ext cx="3280918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02522" y="-2777901"/>
            <a:ext cx="3280596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17017"/>
            <a:ext cx="6406863" cy="3280594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774039"/>
            <a:ext cx="3742610" cy="3329347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551329"/>
            <a:ext cx="7540322" cy="219635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lvl="0" indent="0" defTabSz="914400">
              <a:lnSpc>
                <a:spcPct val="90000"/>
              </a:lnSpc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17. Fin de la Présentation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17019"/>
            <a:ext cx="9143998" cy="3280596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31539" y="-2948881"/>
            <a:ext cx="3280918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02522" y="-2777901"/>
            <a:ext cx="3280596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17017"/>
            <a:ext cx="6406863" cy="3280594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774039"/>
            <a:ext cx="3742610" cy="3329347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551329"/>
            <a:ext cx="7540322" cy="219635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lvl="0" indent="0" algn="l" defTabSz="914400">
              <a:lnSpc>
                <a:spcPct val="90000"/>
              </a:lnSpc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Merci pour votre attention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3011" y="3653118"/>
            <a:ext cx="7504463" cy="109369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lv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Avez-vous des questions 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973</Words>
  <Application>Microsoft Macintosh PowerPoint</Application>
  <PresentationFormat>Affichage à l'écran (16:9)</PresentationFormat>
  <Paragraphs>97</Paragraphs>
  <Slides>36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36</vt:i4>
      </vt:variant>
    </vt:vector>
  </HeadingPairs>
  <TitlesOfParts>
    <vt:vector size="40" baseType="lpstr">
      <vt:lpstr>Arial</vt:lpstr>
      <vt:lpstr>Calibri</vt:lpstr>
      <vt:lpstr>Courier</vt:lpstr>
      <vt:lpstr>Office Theme</vt:lpstr>
      <vt:lpstr>Classifiez automatiquement des biens de consommation</vt:lpstr>
      <vt:lpstr>1. Introduction &amp; Enjeux Business</vt:lpstr>
      <vt:lpstr>Contexte</vt:lpstr>
      <vt:lpstr>2. Le Jeu de Données (Exploration)</vt:lpstr>
      <vt:lpstr>Dataset Flipkart</vt:lpstr>
      <vt:lpstr>3. Pipeline de Prétraitement NLP (Texte)</vt:lpstr>
      <vt:lpstr>Nettoyage Rigoureux</vt:lpstr>
      <vt:lpstr>4. Prétraitement Vision (Image)</vt:lpstr>
      <vt:lpstr>Standardisation des visuels</vt:lpstr>
      <vt:lpstr>5. Extraction de Features Texte (1/2)</vt:lpstr>
      <vt:lpstr>Approches Fréquentielles</vt:lpstr>
      <vt:lpstr>6. Extraction de Features Texte (2/2)</vt:lpstr>
      <vt:lpstr>Plongements Lexicaux (Embeddings)</vt:lpstr>
      <vt:lpstr>7. Extraction de Features Image : Approche Classique</vt:lpstr>
      <vt:lpstr>SIFT &amp; Bag of Visual Words</vt:lpstr>
      <vt:lpstr>8. Extraction de Features Image : Deep Learning</vt:lpstr>
      <vt:lpstr>Transfer Learning avec VGG16</vt:lpstr>
      <vt:lpstr>9. Étude de Faisabilité : Réduction de Dimension</vt:lpstr>
      <vt:lpstr>PCA vs t-SNE</vt:lpstr>
      <vt:lpstr>10. Résultats de Faisabilité : Analyse ARI</vt:lpstr>
      <vt:lpstr>Scores de Similarité (Clustering)</vt:lpstr>
      <vt:lpstr>11. Classification Supervisée : Modèle CNN</vt:lpstr>
      <vt:lpstr>Transfer Learning &amp; Fine-Tuning</vt:lpstr>
      <vt:lpstr>12. Optimisation de l’Entraînement</vt:lpstr>
      <vt:lpstr>Stratégies employées</vt:lpstr>
      <vt:lpstr>13. Performances du Modèle Final</vt:lpstr>
      <vt:lpstr>Métriques Clés</vt:lpstr>
      <vt:lpstr>14. Analyse de la Matrice de Confusion</vt:lpstr>
      <vt:lpstr>Pourquoi ces erreurs ?</vt:lpstr>
      <vt:lpstr>15. Collecte de Données via API (Phase 3)</vt:lpstr>
      <vt:lpstr>Intégration OpenFood Facts</vt:lpstr>
      <vt:lpstr>16. Conclusion et Perspectives</vt:lpstr>
      <vt:lpstr>Bilan du Projet</vt:lpstr>
      <vt:lpstr>Futur</vt:lpstr>
      <vt:lpstr>17. Fin de la Présentation</vt:lpstr>
      <vt:lpstr>Merci pour votre attention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Product Classification for E-Commerce</dc:title>
  <dc:creator>Projet 6 - Parcours Data Scientist</dc:creator>
  <cp:keywords/>
  <cp:lastModifiedBy>JB V</cp:lastModifiedBy>
  <cp:revision>2</cp:revision>
  <dcterms:created xsi:type="dcterms:W3CDTF">2026-02-20T11:16:44Z</dcterms:created>
  <dcterms:modified xsi:type="dcterms:W3CDTF">2026-02-20T14:48:51Z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[Votre Nom] - [Date]</vt:lpwstr>
  </property>
</Properties>
</file>